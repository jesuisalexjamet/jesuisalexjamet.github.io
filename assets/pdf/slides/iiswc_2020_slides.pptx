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media/image2.jpeg" ContentType="image/jpeg"/>
  <Override PartName="/ppt/media/image3.jpeg" ContentType="image/jpeg"/>
  <Override PartName="/ppt/theme/theme2.xml" ContentType="application/vnd.openxmlformats-officedocument.theme+xml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3" name="Shape 3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4" name="Texte niveau 1…"/>
          <p:cNvSpPr txBox="1"/>
          <p:nvPr>
            <p:ph type="body" idx="1"/>
          </p:nvPr>
        </p:nvSpPr>
        <p:spPr>
          <a:xfrm>
            <a:off x="609479" y="1604519"/>
            <a:ext cx="10972442" cy="397728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0" name="Texte niveau 1…"/>
          <p:cNvSpPr txBox="1"/>
          <p:nvPr>
            <p:ph type="body" idx="1"/>
          </p:nvPr>
        </p:nvSpPr>
        <p:spPr>
          <a:xfrm>
            <a:off x="609479" y="1604519"/>
            <a:ext cx="10972442" cy="3977282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9" name="Texte niveau 1…"/>
          <p:cNvSpPr txBox="1"/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" name="Google Shape;20;p19"/>
          <p:cNvSpPr txBox="1"/>
          <p:nvPr>
            <p:ph type="body" sz="half" idx="21"/>
          </p:nvPr>
        </p:nvSpPr>
        <p:spPr>
          <a:xfrm>
            <a:off x="6231959" y="1604519"/>
            <a:ext cx="5354282" cy="397728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4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e niveau 1…"/>
          <p:cNvSpPr txBox="1"/>
          <p:nvPr>
            <p:ph type="body" idx="1"/>
          </p:nvPr>
        </p:nvSpPr>
        <p:spPr>
          <a:xfrm>
            <a:off x="609479" y="273599"/>
            <a:ext cx="10972442" cy="5307841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65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6" name="Google Shape;28;p22"/>
          <p:cNvSpPr txBox="1"/>
          <p:nvPr>
            <p:ph type="body" sz="half" idx="21"/>
          </p:nvPr>
        </p:nvSpPr>
        <p:spPr>
          <a:xfrm>
            <a:off x="6231959" y="1604519"/>
            <a:ext cx="5354282" cy="397728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7" name="Google Shape;29;p22"/>
          <p:cNvSpPr txBox="1"/>
          <p:nvPr>
            <p:ph type="body" sz="quarter" idx="22"/>
          </p:nvPr>
        </p:nvSpPr>
        <p:spPr>
          <a:xfrm>
            <a:off x="609479" y="3682079"/>
            <a:ext cx="5354282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76" name="Texte niveau 1…"/>
          <p:cNvSpPr txBox="1"/>
          <p:nvPr>
            <p:ph type="body" sz="half" idx="1"/>
          </p:nvPr>
        </p:nvSpPr>
        <p:spPr>
          <a:xfrm>
            <a:off x="609479" y="1604519"/>
            <a:ext cx="5354282" cy="397728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7" name="Google Shape;33;p23"/>
          <p:cNvSpPr txBox="1"/>
          <p:nvPr>
            <p:ph type="body" sz="quarter" idx="21"/>
          </p:nvPr>
        </p:nvSpPr>
        <p:spPr>
          <a:xfrm>
            <a:off x="623195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Google Shape;34;p23"/>
          <p:cNvSpPr txBox="1"/>
          <p:nvPr>
            <p:ph type="body" sz="quarter" idx="22"/>
          </p:nvPr>
        </p:nvSpPr>
        <p:spPr>
          <a:xfrm>
            <a:off x="6231959" y="3682079"/>
            <a:ext cx="5354282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87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8" name="Google Shape;38;p24"/>
          <p:cNvSpPr txBox="1"/>
          <p:nvPr>
            <p:ph type="body" sz="quarter" idx="21"/>
          </p:nvPr>
        </p:nvSpPr>
        <p:spPr>
          <a:xfrm>
            <a:off x="623195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Google Shape;39;p24"/>
          <p:cNvSpPr txBox="1"/>
          <p:nvPr>
            <p:ph type="body" sz="half" idx="22"/>
          </p:nvPr>
        </p:nvSpPr>
        <p:spPr>
          <a:xfrm>
            <a:off x="609479" y="3682079"/>
            <a:ext cx="10972442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98" name="Texte niveau 1…"/>
          <p:cNvSpPr txBox="1"/>
          <p:nvPr>
            <p:ph type="body" sz="half" idx="1"/>
          </p:nvPr>
        </p:nvSpPr>
        <p:spPr>
          <a:xfrm>
            <a:off x="609479" y="1604519"/>
            <a:ext cx="10972442" cy="189684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9" name="Google Shape;43;p25"/>
          <p:cNvSpPr txBox="1"/>
          <p:nvPr>
            <p:ph type="body" sz="half" idx="21"/>
          </p:nvPr>
        </p:nvSpPr>
        <p:spPr>
          <a:xfrm>
            <a:off x="609479" y="3682079"/>
            <a:ext cx="10972442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08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09" name="Google Shape;47;p26"/>
          <p:cNvSpPr txBox="1"/>
          <p:nvPr>
            <p:ph type="body" sz="quarter" idx="21"/>
          </p:nvPr>
        </p:nvSpPr>
        <p:spPr>
          <a:xfrm>
            <a:off x="6231959" y="1604519"/>
            <a:ext cx="5354282" cy="189684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" name="Google Shape;48;p26"/>
          <p:cNvSpPr txBox="1"/>
          <p:nvPr>
            <p:ph type="body" sz="quarter" idx="22"/>
          </p:nvPr>
        </p:nvSpPr>
        <p:spPr>
          <a:xfrm>
            <a:off x="609479" y="3682079"/>
            <a:ext cx="5354282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Google Shape;49;p26"/>
          <p:cNvSpPr txBox="1"/>
          <p:nvPr>
            <p:ph type="body" sz="quarter" idx="23"/>
          </p:nvPr>
        </p:nvSpPr>
        <p:spPr>
          <a:xfrm>
            <a:off x="6231959" y="3682079"/>
            <a:ext cx="5354282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e du titre"/>
          <p:cNvSpPr txBox="1"/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20" name="Texte niveau 1…"/>
          <p:cNvSpPr txBox="1"/>
          <p:nvPr>
            <p:ph type="body" sz="quarter" idx="1"/>
          </p:nvPr>
        </p:nvSpPr>
        <p:spPr>
          <a:xfrm>
            <a:off x="609479" y="1604519"/>
            <a:ext cx="3533042" cy="1896842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21" name="Google Shape;53;p27"/>
          <p:cNvSpPr txBox="1"/>
          <p:nvPr>
            <p:ph type="body" sz="quarter" idx="21"/>
          </p:nvPr>
        </p:nvSpPr>
        <p:spPr>
          <a:xfrm>
            <a:off x="4319639" y="1604519"/>
            <a:ext cx="3533041" cy="189684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Google Shape;54;p27"/>
          <p:cNvSpPr txBox="1"/>
          <p:nvPr>
            <p:ph type="body" sz="quarter" idx="22"/>
          </p:nvPr>
        </p:nvSpPr>
        <p:spPr>
          <a:xfrm>
            <a:off x="8029799" y="1604519"/>
            <a:ext cx="3533041" cy="189684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3" name="Google Shape;55;p27"/>
          <p:cNvSpPr txBox="1"/>
          <p:nvPr>
            <p:ph type="body" sz="quarter" idx="23"/>
          </p:nvPr>
        </p:nvSpPr>
        <p:spPr>
          <a:xfrm>
            <a:off x="609479" y="3682079"/>
            <a:ext cx="3533042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Google Shape;56;p27"/>
          <p:cNvSpPr txBox="1"/>
          <p:nvPr>
            <p:ph type="body" sz="quarter" idx="24"/>
          </p:nvPr>
        </p:nvSpPr>
        <p:spPr>
          <a:xfrm>
            <a:off x="4319639" y="3682079"/>
            <a:ext cx="3533041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Google Shape;57;p27"/>
          <p:cNvSpPr txBox="1"/>
          <p:nvPr>
            <p:ph type="body" sz="quarter" idx="25"/>
          </p:nvPr>
        </p:nvSpPr>
        <p:spPr>
          <a:xfrm>
            <a:off x="8029799" y="3682079"/>
            <a:ext cx="3533041" cy="18968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 b="1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Texte du titre</a:t>
            </a:r>
          </a:p>
        </p:txBody>
      </p:sp>
      <p:sp>
        <p:nvSpPr>
          <p:cNvPr id="141" name="Texte niveau 1…"/>
          <p:cNvSpPr txBox="1"/>
          <p:nvPr>
            <p:ph type="body" sz="half" idx="1"/>
          </p:nvPr>
        </p:nvSpPr>
        <p:spPr>
          <a:xfrm>
            <a:off x="6150678" y="1604525"/>
            <a:ext cx="5431200" cy="3977400"/>
          </a:xfrm>
          <a:prstGeom prst="rect">
            <a:avLst/>
          </a:prstGeom>
        </p:spPr>
        <p:txBody>
          <a:bodyPr anchor="ctr"/>
          <a:lstStyle>
            <a:lvl1pPr marL="457200" indent="-228600">
              <a:buClr>
                <a:srgbClr val="000000"/>
              </a:buClr>
              <a:buSzPts val="1800"/>
              <a:buFont typeface="Arial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indent="-228600">
              <a:buClr>
                <a:srgbClr val="000000"/>
              </a:buClr>
              <a:buSzPts val="1800"/>
              <a:buFont typeface="Arial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indent="-228600">
              <a:buClr>
                <a:srgbClr val="000000"/>
              </a:buClr>
              <a:buSzPts val="1800"/>
              <a:buFont typeface="Arial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indent="-228600">
              <a:buClr>
                <a:srgbClr val="000000"/>
              </a:buClr>
              <a:buSzPts val="1800"/>
              <a:buFont typeface="Arial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indent="-228600">
              <a:buClr>
                <a:srgbClr val="000000"/>
              </a:buClr>
              <a:buSzPts val="1800"/>
              <a:buFont typeface="Arial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4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50" name="Texte niveau 1…"/>
          <p:cNvSpPr txBox="1"/>
          <p:nvPr>
            <p:ph type="body" idx="1"/>
          </p:nvPr>
        </p:nvSpPr>
        <p:spPr>
          <a:xfrm>
            <a:off x="609479" y="1604519"/>
            <a:ext cx="10972502" cy="39774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5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59" name="Texte niveau 1…"/>
          <p:cNvSpPr txBox="1"/>
          <p:nvPr>
            <p:ph type="body" sz="half" idx="1"/>
          </p:nvPr>
        </p:nvSpPr>
        <p:spPr>
          <a:xfrm>
            <a:off x="60947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60" name="Google Shape;71;p29"/>
          <p:cNvSpPr txBox="1"/>
          <p:nvPr>
            <p:ph type="body" sz="half" idx="21"/>
          </p:nvPr>
        </p:nvSpPr>
        <p:spPr>
          <a:xfrm>
            <a:off x="623195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6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e niveau 1…"/>
          <p:cNvSpPr txBox="1"/>
          <p:nvPr>
            <p:ph type="body" idx="1"/>
          </p:nvPr>
        </p:nvSpPr>
        <p:spPr>
          <a:xfrm>
            <a:off x="609479" y="273599"/>
            <a:ext cx="10972502" cy="5307902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7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AND_OBJE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85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4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86" name="Google Shape;79;p32"/>
          <p:cNvSpPr txBox="1"/>
          <p:nvPr>
            <p:ph type="body" sz="half" idx="21"/>
          </p:nvPr>
        </p:nvSpPr>
        <p:spPr>
          <a:xfrm>
            <a:off x="623195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Google Shape;80;p32"/>
          <p:cNvSpPr txBox="1"/>
          <p:nvPr>
            <p:ph type="body" sz="quarter" idx="22"/>
          </p:nvPr>
        </p:nvSpPr>
        <p:spPr>
          <a:xfrm>
            <a:off x="609480" y="3682079"/>
            <a:ext cx="53544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AND_TWO_OBJEC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196" name="Texte niveau 1…"/>
          <p:cNvSpPr txBox="1"/>
          <p:nvPr>
            <p:ph type="body" sz="half" idx="1"/>
          </p:nvPr>
        </p:nvSpPr>
        <p:spPr>
          <a:xfrm>
            <a:off x="60947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97" name="Google Shape;84;p33"/>
          <p:cNvSpPr txBox="1"/>
          <p:nvPr>
            <p:ph type="body" sz="quarter" idx="21"/>
          </p:nvPr>
        </p:nvSpPr>
        <p:spPr>
          <a:xfrm>
            <a:off x="6231959" y="160451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Google Shape;85;p33"/>
          <p:cNvSpPr txBox="1"/>
          <p:nvPr>
            <p:ph type="body" sz="quarter" idx="22"/>
          </p:nvPr>
        </p:nvSpPr>
        <p:spPr>
          <a:xfrm>
            <a:off x="6231959" y="368207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OVER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07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4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08" name="Google Shape;89;p34"/>
          <p:cNvSpPr txBox="1"/>
          <p:nvPr>
            <p:ph type="body" sz="quarter" idx="21"/>
          </p:nvPr>
        </p:nvSpPr>
        <p:spPr>
          <a:xfrm>
            <a:off x="6231959" y="160451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Google Shape;90;p34"/>
          <p:cNvSpPr txBox="1"/>
          <p:nvPr>
            <p:ph type="body" sz="half" idx="22"/>
          </p:nvPr>
        </p:nvSpPr>
        <p:spPr>
          <a:xfrm>
            <a:off x="609479" y="3682079"/>
            <a:ext cx="10972502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OVER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18" name="Texte niveau 1…"/>
          <p:cNvSpPr txBox="1"/>
          <p:nvPr>
            <p:ph type="body" sz="half" idx="1"/>
          </p:nvPr>
        </p:nvSpPr>
        <p:spPr>
          <a:xfrm>
            <a:off x="609479" y="1604519"/>
            <a:ext cx="10972502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19" name="Google Shape;94;p35"/>
          <p:cNvSpPr txBox="1"/>
          <p:nvPr>
            <p:ph type="body" sz="half" idx="21"/>
          </p:nvPr>
        </p:nvSpPr>
        <p:spPr>
          <a:xfrm>
            <a:off x="609479" y="3682079"/>
            <a:ext cx="10972502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UR_OBJEC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28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4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9" name="Google Shape;98;p36"/>
          <p:cNvSpPr txBox="1"/>
          <p:nvPr>
            <p:ph type="body" sz="quarter" idx="21"/>
          </p:nvPr>
        </p:nvSpPr>
        <p:spPr>
          <a:xfrm>
            <a:off x="6231959" y="160451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Google Shape;99;p36"/>
          <p:cNvSpPr txBox="1"/>
          <p:nvPr>
            <p:ph type="body" sz="quarter" idx="22"/>
          </p:nvPr>
        </p:nvSpPr>
        <p:spPr>
          <a:xfrm>
            <a:off x="609480" y="3682079"/>
            <a:ext cx="53544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Google Shape;100;p36"/>
          <p:cNvSpPr txBox="1"/>
          <p:nvPr>
            <p:ph type="body" sz="quarter" idx="23"/>
          </p:nvPr>
        </p:nvSpPr>
        <p:spPr>
          <a:xfrm>
            <a:off x="6231959" y="368207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40" name="Texte niveau 1…"/>
          <p:cNvSpPr txBox="1"/>
          <p:nvPr>
            <p:ph type="body" sz="quarter" idx="1"/>
          </p:nvPr>
        </p:nvSpPr>
        <p:spPr>
          <a:xfrm>
            <a:off x="609479" y="1604519"/>
            <a:ext cx="35331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41" name="Google Shape;104;p37"/>
          <p:cNvSpPr txBox="1"/>
          <p:nvPr>
            <p:ph type="body" sz="quarter" idx="21"/>
          </p:nvPr>
        </p:nvSpPr>
        <p:spPr>
          <a:xfrm>
            <a:off x="4319639" y="160451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2" name="Google Shape;105;p37"/>
          <p:cNvSpPr txBox="1"/>
          <p:nvPr>
            <p:ph type="body" sz="quarter" idx="22"/>
          </p:nvPr>
        </p:nvSpPr>
        <p:spPr>
          <a:xfrm>
            <a:off x="8029799" y="160451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Google Shape;106;p37"/>
          <p:cNvSpPr txBox="1"/>
          <p:nvPr>
            <p:ph type="body" sz="quarter" idx="23"/>
          </p:nvPr>
        </p:nvSpPr>
        <p:spPr>
          <a:xfrm>
            <a:off x="609479" y="3682079"/>
            <a:ext cx="35331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4" name="Google Shape;107;p37"/>
          <p:cNvSpPr txBox="1"/>
          <p:nvPr>
            <p:ph type="body" sz="quarter" idx="24"/>
          </p:nvPr>
        </p:nvSpPr>
        <p:spPr>
          <a:xfrm>
            <a:off x="4319639" y="368207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Google Shape;108;p37"/>
          <p:cNvSpPr txBox="1"/>
          <p:nvPr>
            <p:ph type="body" sz="quarter" idx="25"/>
          </p:nvPr>
        </p:nvSpPr>
        <p:spPr>
          <a:xfrm>
            <a:off x="8029799" y="368207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61" name="Texte niveau 1…"/>
          <p:cNvSpPr txBox="1"/>
          <p:nvPr>
            <p:ph type="body" idx="1"/>
          </p:nvPr>
        </p:nvSpPr>
        <p:spPr>
          <a:xfrm>
            <a:off x="609479" y="1604519"/>
            <a:ext cx="10972502" cy="3977401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70" name="Texte niveau 1…"/>
          <p:cNvSpPr txBox="1"/>
          <p:nvPr>
            <p:ph type="body" idx="1"/>
          </p:nvPr>
        </p:nvSpPr>
        <p:spPr>
          <a:xfrm>
            <a:off x="609479" y="1604519"/>
            <a:ext cx="10972502" cy="39774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7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79" name="Texte niveau 1…"/>
          <p:cNvSpPr txBox="1"/>
          <p:nvPr>
            <p:ph type="body" sz="half" idx="1"/>
          </p:nvPr>
        </p:nvSpPr>
        <p:spPr>
          <a:xfrm>
            <a:off x="60947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80" name="Google Shape;124;p40"/>
          <p:cNvSpPr txBox="1"/>
          <p:nvPr>
            <p:ph type="body" sz="half" idx="21"/>
          </p:nvPr>
        </p:nvSpPr>
        <p:spPr>
          <a:xfrm>
            <a:off x="623195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28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e niveau 1…"/>
          <p:cNvSpPr txBox="1"/>
          <p:nvPr>
            <p:ph type="body" idx="1"/>
          </p:nvPr>
        </p:nvSpPr>
        <p:spPr>
          <a:xfrm>
            <a:off x="609479" y="273599"/>
            <a:ext cx="10972502" cy="5307902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9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AND_OBJE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05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4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06" name="Google Shape;132;p43"/>
          <p:cNvSpPr txBox="1"/>
          <p:nvPr>
            <p:ph type="body" sz="half" idx="21"/>
          </p:nvPr>
        </p:nvSpPr>
        <p:spPr>
          <a:xfrm>
            <a:off x="623195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Google Shape;133;p43"/>
          <p:cNvSpPr txBox="1"/>
          <p:nvPr>
            <p:ph type="body" sz="quarter" idx="22"/>
          </p:nvPr>
        </p:nvSpPr>
        <p:spPr>
          <a:xfrm>
            <a:off x="609480" y="3682079"/>
            <a:ext cx="53544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AND_TWO_OBJEC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16" name="Texte niveau 1…"/>
          <p:cNvSpPr txBox="1"/>
          <p:nvPr>
            <p:ph type="body" sz="half" idx="1"/>
          </p:nvPr>
        </p:nvSpPr>
        <p:spPr>
          <a:xfrm>
            <a:off x="609479" y="1604519"/>
            <a:ext cx="5354401" cy="39774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7" name="Google Shape;137;p44"/>
          <p:cNvSpPr txBox="1"/>
          <p:nvPr>
            <p:ph type="body" sz="quarter" idx="21"/>
          </p:nvPr>
        </p:nvSpPr>
        <p:spPr>
          <a:xfrm>
            <a:off x="6231959" y="160451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8" name="Google Shape;138;p44"/>
          <p:cNvSpPr txBox="1"/>
          <p:nvPr>
            <p:ph type="body" sz="quarter" idx="22"/>
          </p:nvPr>
        </p:nvSpPr>
        <p:spPr>
          <a:xfrm>
            <a:off x="6231959" y="368207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OVER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27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4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28" name="Google Shape;142;p45"/>
          <p:cNvSpPr txBox="1"/>
          <p:nvPr>
            <p:ph type="body" sz="quarter" idx="21"/>
          </p:nvPr>
        </p:nvSpPr>
        <p:spPr>
          <a:xfrm>
            <a:off x="6231959" y="160451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9" name="Google Shape;143;p45"/>
          <p:cNvSpPr txBox="1"/>
          <p:nvPr>
            <p:ph type="body" sz="half" idx="22"/>
          </p:nvPr>
        </p:nvSpPr>
        <p:spPr>
          <a:xfrm>
            <a:off x="609479" y="3682079"/>
            <a:ext cx="10972502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OVER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38" name="Texte niveau 1…"/>
          <p:cNvSpPr txBox="1"/>
          <p:nvPr>
            <p:ph type="body" sz="half" idx="1"/>
          </p:nvPr>
        </p:nvSpPr>
        <p:spPr>
          <a:xfrm>
            <a:off x="609479" y="1604519"/>
            <a:ext cx="10972502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39" name="Google Shape;147;p46"/>
          <p:cNvSpPr txBox="1"/>
          <p:nvPr>
            <p:ph type="body" sz="half" idx="21"/>
          </p:nvPr>
        </p:nvSpPr>
        <p:spPr>
          <a:xfrm>
            <a:off x="609479" y="3682079"/>
            <a:ext cx="10972502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UR_OBJEC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48" name="Texte niveau 1…"/>
          <p:cNvSpPr txBox="1"/>
          <p:nvPr>
            <p:ph type="body" sz="quarter" idx="1"/>
          </p:nvPr>
        </p:nvSpPr>
        <p:spPr>
          <a:xfrm>
            <a:off x="609479" y="1604519"/>
            <a:ext cx="53544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49" name="Google Shape;151;p47"/>
          <p:cNvSpPr txBox="1"/>
          <p:nvPr>
            <p:ph type="body" sz="quarter" idx="21"/>
          </p:nvPr>
        </p:nvSpPr>
        <p:spPr>
          <a:xfrm>
            <a:off x="6231959" y="160451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0" name="Google Shape;152;p47"/>
          <p:cNvSpPr txBox="1"/>
          <p:nvPr>
            <p:ph type="body" sz="quarter" idx="22"/>
          </p:nvPr>
        </p:nvSpPr>
        <p:spPr>
          <a:xfrm>
            <a:off x="609480" y="3682079"/>
            <a:ext cx="53544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1" name="Google Shape;153;p47"/>
          <p:cNvSpPr txBox="1"/>
          <p:nvPr>
            <p:ph type="body" sz="quarter" idx="23"/>
          </p:nvPr>
        </p:nvSpPr>
        <p:spPr>
          <a:xfrm>
            <a:off x="6231959" y="3682079"/>
            <a:ext cx="53544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6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e du titre"/>
          <p:cNvSpPr txBox="1"/>
          <p:nvPr>
            <p:ph type="title"/>
          </p:nvPr>
        </p:nvSpPr>
        <p:spPr>
          <a:xfrm>
            <a:off x="609479" y="273599"/>
            <a:ext cx="10972502" cy="1144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60" name="Texte niveau 1…"/>
          <p:cNvSpPr txBox="1"/>
          <p:nvPr>
            <p:ph type="body" sz="quarter" idx="1"/>
          </p:nvPr>
        </p:nvSpPr>
        <p:spPr>
          <a:xfrm>
            <a:off x="609479" y="1604519"/>
            <a:ext cx="3533101" cy="1896901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61" name="Google Shape;157;p48"/>
          <p:cNvSpPr txBox="1"/>
          <p:nvPr>
            <p:ph type="body" sz="quarter" idx="21"/>
          </p:nvPr>
        </p:nvSpPr>
        <p:spPr>
          <a:xfrm>
            <a:off x="4319639" y="160451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2" name="Google Shape;158;p48"/>
          <p:cNvSpPr txBox="1"/>
          <p:nvPr>
            <p:ph type="body" sz="quarter" idx="22"/>
          </p:nvPr>
        </p:nvSpPr>
        <p:spPr>
          <a:xfrm>
            <a:off x="8029799" y="160451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3" name="Google Shape;159;p48"/>
          <p:cNvSpPr txBox="1"/>
          <p:nvPr>
            <p:ph type="body" sz="quarter" idx="23"/>
          </p:nvPr>
        </p:nvSpPr>
        <p:spPr>
          <a:xfrm>
            <a:off x="609479" y="3682079"/>
            <a:ext cx="3533101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4" name="Google Shape;160;p48"/>
          <p:cNvSpPr txBox="1"/>
          <p:nvPr>
            <p:ph type="body" sz="quarter" idx="24"/>
          </p:nvPr>
        </p:nvSpPr>
        <p:spPr>
          <a:xfrm>
            <a:off x="4319639" y="368207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5" name="Google Shape;161;p48"/>
          <p:cNvSpPr txBox="1"/>
          <p:nvPr>
            <p:ph type="body" sz="quarter" idx="25"/>
          </p:nvPr>
        </p:nvSpPr>
        <p:spPr>
          <a:xfrm>
            <a:off x="8029799" y="3682079"/>
            <a:ext cx="3533100" cy="18969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3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0"/>
          <p:cNvSpPr/>
          <p:nvPr/>
        </p:nvSpPr>
        <p:spPr>
          <a:xfrm>
            <a:off x="4064039" y="6095520"/>
            <a:ext cx="8127360" cy="486721"/>
          </a:xfrm>
          <a:prstGeom prst="rect">
            <a:avLst/>
          </a:prstGeom>
          <a:solidFill>
            <a:srgbClr val="FFFFFF">
              <a:alpha val="74901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" name="Google Shape;7;p10"/>
          <p:cNvSpPr/>
          <p:nvPr/>
        </p:nvSpPr>
        <p:spPr>
          <a:xfrm>
            <a:off x="-1" y="6095520"/>
            <a:ext cx="4063321" cy="486721"/>
          </a:xfrm>
          <a:prstGeom prst="rect">
            <a:avLst/>
          </a:prstGeom>
          <a:solidFill>
            <a:srgbClr val="004890">
              <a:alpha val="49803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" name="Texte du titre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Texte du titre</a:t>
            </a:r>
          </a:p>
        </p:txBody>
      </p:sp>
      <p:sp>
        <p:nvSpPr>
          <p:cNvPr id="5" name="Texte niveau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" name="Numéro de diapositiv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22860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22860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22860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22860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2860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2860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860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2860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2860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jpe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166;p1"/>
          <p:cNvSpPr txBox="1"/>
          <p:nvPr/>
        </p:nvSpPr>
        <p:spPr>
          <a:xfrm>
            <a:off x="5009765" y="2258847"/>
            <a:ext cx="6610310" cy="1744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b="1" sz="4000">
                <a:solidFill>
                  <a:srgbClr val="00489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Characterizing the impact of last-level cache replacement policies on big-data workloads</a:t>
            </a:r>
          </a:p>
        </p:txBody>
      </p:sp>
      <p:sp>
        <p:nvSpPr>
          <p:cNvPr id="376" name="Google Shape;168;p1"/>
          <p:cNvSpPr txBox="1"/>
          <p:nvPr/>
        </p:nvSpPr>
        <p:spPr>
          <a:xfrm>
            <a:off x="371524" y="6061603"/>
            <a:ext cx="3163310" cy="554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6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2020 IEEE International Symposium on Workload Characterization</a:t>
            </a:r>
          </a:p>
        </p:txBody>
      </p:sp>
      <p:sp>
        <p:nvSpPr>
          <p:cNvPr id="377" name="Google Shape;169;p1"/>
          <p:cNvSpPr txBox="1"/>
          <p:nvPr/>
        </p:nvSpPr>
        <p:spPr>
          <a:xfrm>
            <a:off x="5009765" y="6188603"/>
            <a:ext cx="6610310" cy="30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>
              <a:defRPr b="1" sz="1600">
                <a:latin typeface="Calibri"/>
                <a:ea typeface="Calibri"/>
                <a:cs typeface="Calibri"/>
                <a:sym typeface="Calibri"/>
              </a:defRPr>
            </a:pPr>
            <a:r>
              <a:t>Alexandre Valentin Jamet</a:t>
            </a:r>
            <a:r>
              <a:rPr b="0"/>
              <a:t>, Lluc Alvarez, Danial A. Jiménez, Marc Casas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174;p2" descr="Google Shape;174;p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40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Google Shape;175;p2"/>
          <p:cNvSpPr txBox="1"/>
          <p:nvPr/>
        </p:nvSpPr>
        <p:spPr>
          <a:xfrm>
            <a:off x="2026805" y="3003658"/>
            <a:ext cx="8137430" cy="85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90000"/>
              </a:lnSpc>
              <a:defRPr b="1" sz="6000">
                <a:solidFill>
                  <a:srgbClr val="12448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Introduction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182;p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Hitting the memory wall</a:t>
            </a:r>
          </a:p>
        </p:txBody>
      </p:sp>
      <p:sp>
        <p:nvSpPr>
          <p:cNvPr id="383" name="Google Shape;183;p3"/>
          <p:cNvSpPr txBox="1"/>
          <p:nvPr>
            <p:ph type="body" sz="half" idx="1"/>
          </p:nvPr>
        </p:nvSpPr>
        <p:spPr>
          <a:xfrm>
            <a:off x="6150678" y="1604525"/>
            <a:ext cx="5431201" cy="3977400"/>
          </a:xfrm>
          <a:prstGeom prst="rect">
            <a:avLst/>
          </a:prstGeom>
        </p:spPr>
        <p:txBody>
          <a:bodyPr/>
          <a:lstStyle/>
          <a:p>
            <a:pPr indent="-317500">
              <a:buFont typeface="Calibri"/>
            </a:pPr>
            <a:r>
              <a:t>The CPU/memory performance gap has been increasing for decades</a:t>
            </a:r>
          </a:p>
          <a:p>
            <a:pPr indent="-317500">
              <a:buFont typeface="Calibri"/>
            </a:pPr>
            <a:r>
              <a:t>The addition of caches partially hid the long access times to memory systems retaining valuable data</a:t>
            </a:r>
          </a:p>
          <a:p>
            <a:pPr indent="-317500">
              <a:buFont typeface="Calibri"/>
            </a:pPr>
            <a:r>
              <a:t>Replacement policies are responsible of eviction choice:</a:t>
            </a:r>
          </a:p>
          <a:p>
            <a:pPr lvl="1" indent="-317500">
              <a:buFont typeface="Calibri"/>
              <a:defRPr i="1"/>
            </a:pPr>
            <a:r>
              <a:t>How long in the future will that block be useful?</a:t>
            </a:r>
          </a:p>
        </p:txBody>
      </p:sp>
      <p:pic>
        <p:nvPicPr>
          <p:cNvPr id="384" name="Google Shape;184;p3" descr="Google Shape;184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475" y="2087664"/>
            <a:ext cx="5431202" cy="30111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189;g5379bfe6a4_0_2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LLC Replacement policies facing new workloads</a:t>
            </a:r>
          </a:p>
        </p:txBody>
      </p:sp>
      <p:sp>
        <p:nvSpPr>
          <p:cNvPr id="387" name="Google Shape;190;g5379bfe6a4_0_21"/>
          <p:cNvSpPr txBox="1"/>
          <p:nvPr>
            <p:ph type="body" sz="half" idx="1"/>
          </p:nvPr>
        </p:nvSpPr>
        <p:spPr>
          <a:xfrm>
            <a:off x="6150678" y="1604525"/>
            <a:ext cx="5431201" cy="3977400"/>
          </a:xfrm>
          <a:prstGeom prst="rect">
            <a:avLst/>
          </a:prstGeom>
        </p:spPr>
        <p:txBody>
          <a:bodyPr/>
          <a:lstStyle/>
          <a:p>
            <a:pPr indent="-317500"/>
            <a:r>
              <a:t>Cache replacement are responsible of the eviction candidate on cache misses:</a:t>
            </a:r>
          </a:p>
          <a:p>
            <a:pPr lvl="1" indent="-330200">
              <a:buSzPts val="1600"/>
              <a:defRPr i="1" sz="1600"/>
            </a:pPr>
            <a:r>
              <a:t>How far in the future this block will be useful?</a:t>
            </a:r>
          </a:p>
          <a:p>
            <a:pPr indent="-317500"/>
            <a:r>
              <a:t>Literature contains advanced replacement policies delivering great performance improvements for well-known workloads (</a:t>
            </a:r>
            <a:r>
              <a:rPr i="1"/>
              <a:t>e.g.</a:t>
            </a:r>
            <a:r>
              <a:t> SPEC CPU 2006 &amp; 2017)</a:t>
            </a:r>
          </a:p>
          <a:p>
            <a:pPr indent="-317500"/>
            <a:r>
              <a:t>New workloads, showing poor locality and high memory intensivity, leave LLC replacement policies helpless.</a:t>
            </a:r>
          </a:p>
          <a:p>
            <a:pPr lvl="1" indent="-317500">
              <a:defRPr i="1"/>
            </a:pPr>
            <a:r>
              <a:t>Results reported using methodology described in slide []</a:t>
            </a:r>
          </a:p>
        </p:txBody>
      </p:sp>
      <p:grpSp>
        <p:nvGrpSpPr>
          <p:cNvPr id="390" name="Google Shape;191;g5379bfe6a4_0_21"/>
          <p:cNvGrpSpPr/>
          <p:nvPr/>
        </p:nvGrpSpPr>
        <p:grpSpPr>
          <a:xfrm>
            <a:off x="609478" y="1659145"/>
            <a:ext cx="5007012" cy="3868157"/>
            <a:chOff x="0" y="0"/>
            <a:chExt cx="5007010" cy="3868156"/>
          </a:xfrm>
        </p:grpSpPr>
        <p:pic>
          <p:nvPicPr>
            <p:cNvPr id="388" name="Google Shape;192;g5379bfe6a4_0_21" descr="Google Shape;192;g5379bfe6a4_0_2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" y="1934083"/>
              <a:ext cx="5006993" cy="19340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9" name="Google Shape;193;g5379bfe6a4_0_21" descr="Google Shape;193;g5379bfe6a4_0_2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5007007" cy="1934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198;p4" descr="Google Shape;198;p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40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Google Shape;199;p4"/>
          <p:cNvSpPr txBox="1"/>
          <p:nvPr/>
        </p:nvSpPr>
        <p:spPr>
          <a:xfrm>
            <a:off x="2026805" y="3003658"/>
            <a:ext cx="8137430" cy="85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90000"/>
              </a:lnSpc>
              <a:defRPr b="1" sz="6000">
                <a:solidFill>
                  <a:srgbClr val="12448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Workloads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PEC &amp; Qualcomm workloads"/>
          <p:cNvSpPr txBox="1"/>
          <p:nvPr>
            <p:ph type="title"/>
          </p:nvPr>
        </p:nvSpPr>
        <p:spPr>
          <a:xfrm>
            <a:off x="607948" y="273599"/>
            <a:ext cx="10972501" cy="1144801"/>
          </a:xfrm>
          <a:prstGeom prst="rect">
            <a:avLst/>
          </a:prstGeom>
        </p:spPr>
        <p:txBody>
          <a:bodyPr/>
          <a:lstStyle/>
          <a:p>
            <a:pPr/>
            <a:r>
              <a:t>SPEC &amp; Qualcomm workloads</a:t>
            </a:r>
          </a:p>
        </p:txBody>
      </p:sp>
      <p:sp>
        <p:nvSpPr>
          <p:cNvPr id="396" name="Qualcomm workloads are industrial workloads provided by Qualcomm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Qualcomm workloads are industrial workloads provided by Qualcomm</a:t>
            </a:r>
          </a:p>
          <a:p>
            <a:pPr lvl="1">
              <a:buChar char="●"/>
            </a:pPr>
            <a:r>
              <a:t>Used in the context of CVP1 (Value Prediction) contest</a:t>
            </a:r>
          </a:p>
          <a:p>
            <a:pPr/>
            <a:r>
              <a:t>This benchmark suite is comprised of a mix of data-base &amp; server workloads</a:t>
            </a:r>
          </a:p>
          <a:p>
            <a:pPr lvl="1">
              <a:buChar char="●"/>
            </a:pPr>
            <a:r>
              <a:t>Redis</a:t>
            </a:r>
          </a:p>
          <a:p>
            <a:pPr lvl="1">
              <a:buChar char="●"/>
            </a:pPr>
            <a:r>
              <a:t>MongoDB</a:t>
            </a:r>
          </a:p>
          <a:p>
            <a:pPr lvl="1">
              <a:buChar char="●"/>
            </a:pPr>
            <a:r>
              <a:t>etc.</a:t>
            </a:r>
          </a:p>
        </p:txBody>
      </p:sp>
      <p:sp>
        <p:nvSpPr>
          <p:cNvPr id="397" name="SPEC CPU 2006 &amp; 2017 are standard workloads commonly used in Computer Architecture for evaluation purpose…"/>
          <p:cNvSpPr txBox="1"/>
          <p:nvPr/>
        </p:nvSpPr>
        <p:spPr>
          <a:xfrm>
            <a:off x="607948" y="1604525"/>
            <a:ext cx="5431201" cy="3977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marL="4572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SPEC CPU 2006 &amp; 2017 are standard workloads commonly used in Computer Architecture for evaluation purpose</a:t>
            </a:r>
          </a:p>
          <a:p>
            <a:pPr lvl="1" marL="9144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Composed of a wide variety of commonly used</a:t>
            </a:r>
          </a:p>
          <a:p>
            <a:pPr lvl="1" marL="9144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Compilers, data-compression, AI algorithms, physics, etc.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400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</p:txBody>
      </p:sp>
      <p:sp>
        <p:nvSpPr>
          <p:cNvPr id="401" name="The GAP Benchmark Suite is shipped with both input graphs and kernels widely used in academia and industry.…"/>
          <p:cNvSpPr txBox="1"/>
          <p:nvPr/>
        </p:nvSpPr>
        <p:spPr>
          <a:xfrm>
            <a:off x="471963" y="1604525"/>
            <a:ext cx="5431201" cy="3977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4572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The GAP Benchmark Suite is shipped with both input graphs and kernels widely used in academia and industry.</a:t>
            </a:r>
          </a:p>
          <a:p>
            <a:pPr marL="4572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Graph inputs:</a:t>
            </a:r>
          </a:p>
          <a:p>
            <a:pPr lvl="1" marL="9144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BC, BFS, CC, PR, SSSP, TC</a:t>
            </a:r>
          </a:p>
          <a:p>
            <a:pPr lvl="1" marL="9144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twitter, kron, urand, web, road</a:t>
            </a:r>
          </a:p>
          <a:p>
            <a:pPr marL="457200" indent="-228600">
              <a:buClr>
                <a:srgbClr val="000000"/>
              </a:buClr>
              <a:buSzPts val="1800"/>
              <a:buFont typeface="Arial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t>We run each possible combination of inputs / kernels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404" name="Graph-processing is an emerging type of HPC workloads, with a wide variety of usage: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Graph-processing is an emerging type of HPC workloads, with a wide variety of usage:</a:t>
            </a:r>
          </a:p>
          <a:p>
            <a:pPr lvl="1">
              <a:buChar char="●"/>
            </a:pPr>
            <a:r>
              <a:t>Social networks</a:t>
            </a:r>
          </a:p>
          <a:p>
            <a:pPr lvl="1">
              <a:buChar char="●"/>
            </a:pPr>
            <a:r>
              <a:t>Mobility (</a:t>
            </a:r>
            <a:r>
              <a:rPr i="1"/>
              <a:t>e.g.</a:t>
            </a:r>
            <a:r>
              <a:t> GPS)</a:t>
            </a:r>
          </a:p>
          <a:p>
            <a:pPr lvl="1">
              <a:buChar char="●"/>
            </a:pPr>
            <a:r>
              <a:t>Search engines,</a:t>
            </a:r>
          </a:p>
          <a:p>
            <a:pPr lvl="1">
              <a:buChar char="●"/>
            </a:pPr>
            <a:r>
              <a:t>etc.</a:t>
            </a:r>
          </a:p>
          <a:p>
            <a:pPr/>
            <a:r>
              <a:t>By design, they exhibit corner cases for current computer architecture</a:t>
            </a:r>
          </a:p>
          <a:p>
            <a:pPr lvl="1">
              <a:buChar char="●"/>
            </a:pPr>
            <a:r>
              <a:t>Very large memory footprint</a:t>
            </a:r>
          </a:p>
          <a:p>
            <a:pPr lvl="1">
              <a:buChar char="●"/>
            </a:pPr>
            <a:r>
              <a:t>Highly irregular access patterns</a:t>
            </a:r>
          </a:p>
          <a:p>
            <a:pPr lvl="1">
              <a:buChar char="●"/>
            </a:pPr>
            <a:r>
              <a:t>etc.</a:t>
            </a:r>
          </a:p>
        </p:txBody>
      </p:sp>
      <p:pic>
        <p:nvPicPr>
          <p:cNvPr id="405" name="1101px-Complete_graph_K7.svg.png" descr="1101px-Complete_graph_K7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7612" y="1604525"/>
            <a:ext cx="4054738" cy="3977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408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sp>
        <p:nvSpPr>
          <p:cNvPr id="409" name="0"/>
          <p:cNvSpPr/>
          <p:nvPr/>
        </p:nvSpPr>
        <p:spPr>
          <a:xfrm>
            <a:off x="761136" y="1881673"/>
            <a:ext cx="464803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10" name="2"/>
          <p:cNvSpPr/>
          <p:nvPr/>
        </p:nvSpPr>
        <p:spPr>
          <a:xfrm>
            <a:off x="1219891" y="1881673"/>
            <a:ext cx="464803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11" name="2"/>
          <p:cNvSpPr/>
          <p:nvPr/>
        </p:nvSpPr>
        <p:spPr>
          <a:xfrm>
            <a:off x="1678646" y="1881673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12" name="4"/>
          <p:cNvSpPr/>
          <p:nvPr/>
        </p:nvSpPr>
        <p:spPr>
          <a:xfrm>
            <a:off x="2138524" y="1881673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413" name="5"/>
          <p:cNvSpPr/>
          <p:nvPr/>
        </p:nvSpPr>
        <p:spPr>
          <a:xfrm>
            <a:off x="2608424" y="1881673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414" name="7"/>
          <p:cNvSpPr/>
          <p:nvPr/>
        </p:nvSpPr>
        <p:spPr>
          <a:xfrm>
            <a:off x="3078324" y="1881673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15" name="8"/>
          <p:cNvSpPr/>
          <p:nvPr/>
        </p:nvSpPr>
        <p:spPr>
          <a:xfrm>
            <a:off x="3535524" y="1881673"/>
            <a:ext cx="464803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8</a:t>
            </a:r>
          </a:p>
        </p:txBody>
      </p:sp>
      <p:sp>
        <p:nvSpPr>
          <p:cNvPr id="416" name="OA"/>
          <p:cNvSpPr txBox="1"/>
          <p:nvPr/>
        </p:nvSpPr>
        <p:spPr>
          <a:xfrm>
            <a:off x="156983" y="2015383"/>
            <a:ext cx="26959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OA</a:t>
            </a:r>
          </a:p>
        </p:txBody>
      </p:sp>
      <p:sp>
        <p:nvSpPr>
          <p:cNvPr id="417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18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419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20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21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422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23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424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425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grpSp>
        <p:nvGrpSpPr>
          <p:cNvPr id="434" name="Groupe"/>
          <p:cNvGrpSpPr/>
          <p:nvPr/>
        </p:nvGrpSpPr>
        <p:grpSpPr>
          <a:xfrm>
            <a:off x="275326" y="3237946"/>
            <a:ext cx="3276750" cy="1403711"/>
            <a:chOff x="118343" y="0"/>
            <a:chExt cx="3276749" cy="1403709"/>
          </a:xfrm>
        </p:grpSpPr>
        <p:sp>
          <p:nvSpPr>
            <p:cNvPr id="426" name="PA"/>
            <p:cNvSpPr/>
            <p:nvPr/>
          </p:nvSpPr>
          <p:spPr>
            <a:xfrm>
              <a:off x="118343" y="13370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PA</a:t>
              </a:r>
            </a:p>
          </p:txBody>
        </p:sp>
        <p:grpSp>
          <p:nvGrpSpPr>
            <p:cNvPr id="433" name="Groupe"/>
            <p:cNvGrpSpPr/>
            <p:nvPr/>
          </p:nvGrpSpPr>
          <p:grpSpPr>
            <a:xfrm>
              <a:off x="613101" y="0"/>
              <a:ext cx="2781992" cy="464803"/>
              <a:chOff x="0" y="0"/>
              <a:chExt cx="2781991" cy="464802"/>
            </a:xfrm>
          </p:grpSpPr>
          <p:sp>
            <p:nvSpPr>
              <p:cNvPr id="427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428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429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430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431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432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</p:grpSp>
      </p:grpSp>
      <p:sp>
        <p:nvSpPr>
          <p:cNvPr id="435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36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37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  <p:sp>
        <p:nvSpPr>
          <p:cNvPr id="438" name="Cercle"/>
          <p:cNvSpPr/>
          <p:nvPr/>
        </p:nvSpPr>
        <p:spPr>
          <a:xfrm>
            <a:off x="7516464" y="2793413"/>
            <a:ext cx="295660" cy="295660"/>
          </a:xfrm>
          <a:prstGeom prst="ellipse">
            <a:avLst/>
          </a:prstGeom>
          <a:ln w="25400"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cxnSp>
        <p:nvCxnSpPr>
          <p:cNvPr id="439" name="Ligne de connexion"/>
          <p:cNvCxnSpPr>
            <a:stCxn id="438" idx="0"/>
            <a:endCxn id="415" idx="0"/>
          </p:cNvCxnSpPr>
          <p:nvPr/>
        </p:nvCxnSpPr>
        <p:spPr>
          <a:xfrm flipH="1" flipV="1">
            <a:off x="3767925" y="2114074"/>
            <a:ext cx="3896369" cy="82717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440" name="Cercle"/>
          <p:cNvSpPr/>
          <p:nvPr/>
        </p:nvSpPr>
        <p:spPr>
          <a:xfrm>
            <a:off x="7263343" y="2793413"/>
            <a:ext cx="295661" cy="295660"/>
          </a:xfrm>
          <a:prstGeom prst="ellipse">
            <a:avLst/>
          </a:prstGeom>
          <a:ln w="25400"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1" name="Cercle"/>
          <p:cNvSpPr/>
          <p:nvPr/>
        </p:nvSpPr>
        <p:spPr>
          <a:xfrm>
            <a:off x="7010223" y="2793413"/>
            <a:ext cx="295660" cy="295660"/>
          </a:xfrm>
          <a:prstGeom prst="ellipse">
            <a:avLst/>
          </a:prstGeom>
          <a:ln w="25400"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cxnSp>
        <p:nvCxnSpPr>
          <p:cNvPr id="442" name="Ligne de connexion"/>
          <p:cNvCxnSpPr>
            <a:stCxn id="440" idx="0"/>
            <a:endCxn id="424" idx="0"/>
          </p:cNvCxnSpPr>
          <p:nvPr/>
        </p:nvCxnSpPr>
        <p:spPr>
          <a:xfrm flipH="1" flipV="1">
            <a:off x="4226594" y="2792211"/>
            <a:ext cx="3184580" cy="149033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43" name="Ligne de connexion"/>
          <p:cNvCxnSpPr>
            <a:stCxn id="441" idx="0"/>
            <a:endCxn id="436" idx="0"/>
          </p:cNvCxnSpPr>
          <p:nvPr/>
        </p:nvCxnSpPr>
        <p:spPr>
          <a:xfrm flipH="1">
            <a:off x="4234074" y="2941243"/>
            <a:ext cx="2923980" cy="529106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41" grpId="6"/>
      <p:bldP build="whole" bldLvl="1" animBg="1" rev="0" advAuto="0" spid="442" grpId="3"/>
      <p:bldP build="whole" bldLvl="1" animBg="1" rev="0" advAuto="0" spid="439" grpId="1"/>
      <p:bldP build="whole" bldLvl="1" animBg="1" rev="0" advAuto="0" spid="440" grpId="4"/>
      <p:bldP build="whole" bldLvl="1" animBg="1" rev="0" advAuto="0" spid="438" grpId="2"/>
      <p:bldP build="whole" bldLvl="1" animBg="1" rev="0" advAuto="0" spid="443" grpId="5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446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456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454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447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448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449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450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451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452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453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455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457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58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459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60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61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462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63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464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465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466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467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68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69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70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471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472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73" name="Ligne"/>
          <p:cNvSpPr/>
          <p:nvPr/>
        </p:nvSpPr>
        <p:spPr>
          <a:xfrm>
            <a:off x="913190" y="2337496"/>
            <a:ext cx="1" cy="231295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474" name="Ligne"/>
          <p:cNvSpPr/>
          <p:nvPr/>
        </p:nvSpPr>
        <p:spPr>
          <a:xfrm>
            <a:off x="1424873" y="2347852"/>
            <a:ext cx="458324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475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76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77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480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490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488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481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482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483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484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485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486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487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489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491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92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493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494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495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496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497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498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499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500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501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02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03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04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505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506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07" name="Ligne"/>
          <p:cNvSpPr/>
          <p:nvPr/>
        </p:nvSpPr>
        <p:spPr>
          <a:xfrm>
            <a:off x="913190" y="2337496"/>
            <a:ext cx="1" cy="231295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08" name="Ligne"/>
          <p:cNvSpPr/>
          <p:nvPr/>
        </p:nvSpPr>
        <p:spPr>
          <a:xfrm>
            <a:off x="1424873" y="2347852"/>
            <a:ext cx="458324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09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10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11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514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524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522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515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516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517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518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519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520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521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523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525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26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527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28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29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530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31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532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533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534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535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36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37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38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539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540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41" name="Ligne"/>
          <p:cNvSpPr/>
          <p:nvPr/>
        </p:nvSpPr>
        <p:spPr>
          <a:xfrm>
            <a:off x="1912516" y="2337496"/>
            <a:ext cx="1" cy="231295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42" name="Ligne"/>
          <p:cNvSpPr/>
          <p:nvPr/>
        </p:nvSpPr>
        <p:spPr>
          <a:xfrm>
            <a:off x="2254260" y="2348900"/>
            <a:ext cx="458325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43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44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45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548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558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556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549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550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551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552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553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554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555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557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559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60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561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62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63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564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65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566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567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568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569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70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71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72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573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574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75" name="Ligne"/>
          <p:cNvSpPr/>
          <p:nvPr/>
        </p:nvSpPr>
        <p:spPr>
          <a:xfrm>
            <a:off x="1912516" y="2337496"/>
            <a:ext cx="1" cy="231295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76" name="Ligne"/>
          <p:cNvSpPr/>
          <p:nvPr/>
        </p:nvSpPr>
        <p:spPr>
          <a:xfrm>
            <a:off x="2254260" y="2348900"/>
            <a:ext cx="458325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77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78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79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582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592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590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583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584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585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586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587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588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589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591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593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94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595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596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597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598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599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600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601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602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603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04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05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06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607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608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09" name="Ligne"/>
          <p:cNvSpPr/>
          <p:nvPr/>
        </p:nvSpPr>
        <p:spPr>
          <a:xfrm>
            <a:off x="2372394" y="2337496"/>
            <a:ext cx="482023" cy="237302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10" name="Ligne"/>
          <p:cNvSpPr/>
          <p:nvPr/>
        </p:nvSpPr>
        <p:spPr>
          <a:xfrm>
            <a:off x="2843111" y="2348900"/>
            <a:ext cx="458325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11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12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13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616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626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624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617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618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619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620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621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622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623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625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627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28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629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30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31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632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33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634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635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636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637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38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39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40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641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642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43" name="Ligne"/>
          <p:cNvSpPr/>
          <p:nvPr/>
        </p:nvSpPr>
        <p:spPr>
          <a:xfrm>
            <a:off x="2836419" y="2352442"/>
            <a:ext cx="1" cy="231295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44" name="Ligne"/>
          <p:cNvSpPr/>
          <p:nvPr/>
        </p:nvSpPr>
        <p:spPr>
          <a:xfrm>
            <a:off x="3305164" y="2338446"/>
            <a:ext cx="458324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45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46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47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650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660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658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651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652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653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654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655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656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657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659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661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62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663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64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65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666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67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668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669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670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671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72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73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74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675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676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77" name="Ligne"/>
          <p:cNvSpPr/>
          <p:nvPr/>
        </p:nvSpPr>
        <p:spPr>
          <a:xfrm>
            <a:off x="2836419" y="2352442"/>
            <a:ext cx="1" cy="231295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78" name="Ligne"/>
          <p:cNvSpPr/>
          <p:nvPr/>
        </p:nvSpPr>
        <p:spPr>
          <a:xfrm>
            <a:off x="3305164" y="2338446"/>
            <a:ext cx="458324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679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80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81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684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</p:txBody>
      </p:sp>
      <p:grpSp>
        <p:nvGrpSpPr>
          <p:cNvPr id="694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692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685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686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687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688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689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690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691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693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695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696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697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698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699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700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701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702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703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704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705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706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707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708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709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710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711" name="Ligne"/>
          <p:cNvSpPr/>
          <p:nvPr/>
        </p:nvSpPr>
        <p:spPr>
          <a:xfrm>
            <a:off x="3312194" y="2327042"/>
            <a:ext cx="484406" cy="242594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712" name="Ligne"/>
          <p:cNvSpPr/>
          <p:nvPr/>
        </p:nvSpPr>
        <p:spPr>
          <a:xfrm>
            <a:off x="3747504" y="2338446"/>
            <a:ext cx="458324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713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714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715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AP Benchmarks: Graph-Processing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GAP Benchmarks: Graph-Processing workloads</a:t>
            </a:r>
          </a:p>
        </p:txBody>
      </p:sp>
      <p:sp>
        <p:nvSpPr>
          <p:cNvPr id="718" name="Graphs are organized using the CSR forma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Graphs are organized using the CSR format</a:t>
            </a:r>
          </a:p>
          <a:p>
            <a:pPr lvl="1">
              <a:buChar char="●"/>
            </a:pPr>
            <a:r>
              <a:t>Stores the transition matrix of graph</a:t>
            </a:r>
          </a:p>
          <a:p>
            <a:pPr lvl="1">
              <a:buChar char="●"/>
            </a:pPr>
            <a:r>
              <a:t>Reduces memory footprint of a graph</a:t>
            </a:r>
          </a:p>
          <a:p>
            <a:pPr/>
            <a:r>
              <a:t>This organization leads to indirect memory accesses:</a:t>
            </a:r>
          </a:p>
          <a:p>
            <a:pPr lvl="1">
              <a:buChar char="●"/>
              <a:def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defRPr>
            </a:pPr>
            <a:r>
              <a:t>A[B[i]]</a:t>
            </a:r>
          </a:p>
          <a:p>
            <a:pPr lvl="1">
              <a:buChar char="●"/>
            </a:pPr>
            <a:r>
              <a:t>Indirection depends on the graph topology</a:t>
            </a:r>
          </a:p>
          <a:p>
            <a:pPr lvl="1">
              <a:buChar char="●"/>
            </a:pPr>
            <a:r>
              <a:t>The property array of the graph is thus traversed with no specific pattern</a:t>
            </a:r>
          </a:p>
          <a:p>
            <a:pPr/>
            <a:r>
              <a:rPr i="1"/>
              <a:t>PageRank</a:t>
            </a:r>
            <a:r>
              <a:t> is a rather simple graph kernel as it simply spans all edges of the graph</a:t>
            </a:r>
          </a:p>
          <a:p>
            <a:pPr/>
            <a:r>
              <a:t>Pattern looks random, right? Imagine with real size graphs…</a:t>
            </a:r>
          </a:p>
        </p:txBody>
      </p:sp>
      <p:grpSp>
        <p:nvGrpSpPr>
          <p:cNvPr id="728" name="Groupe"/>
          <p:cNvGrpSpPr/>
          <p:nvPr/>
        </p:nvGrpSpPr>
        <p:grpSpPr>
          <a:xfrm>
            <a:off x="156983" y="1881673"/>
            <a:ext cx="3843345" cy="464804"/>
            <a:chOff x="0" y="0"/>
            <a:chExt cx="3843343" cy="464802"/>
          </a:xfrm>
        </p:grpSpPr>
        <p:grpSp>
          <p:nvGrpSpPr>
            <p:cNvPr id="726" name="Groupe"/>
            <p:cNvGrpSpPr/>
            <p:nvPr/>
          </p:nvGrpSpPr>
          <p:grpSpPr>
            <a:xfrm>
              <a:off x="604152" y="0"/>
              <a:ext cx="3239192" cy="464803"/>
              <a:chOff x="0" y="0"/>
              <a:chExt cx="3239191" cy="464802"/>
            </a:xfrm>
          </p:grpSpPr>
          <p:sp>
            <p:nvSpPr>
              <p:cNvPr id="719" name="0"/>
              <p:cNvSpPr/>
              <p:nvPr/>
            </p:nvSpPr>
            <p:spPr>
              <a:xfrm>
                <a:off x="0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720" name="2"/>
              <p:cNvSpPr/>
              <p:nvPr/>
            </p:nvSpPr>
            <p:spPr>
              <a:xfrm>
                <a:off x="458755" y="0"/>
                <a:ext cx="464803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721" name="2"/>
              <p:cNvSpPr/>
              <p:nvPr/>
            </p:nvSpPr>
            <p:spPr>
              <a:xfrm>
                <a:off x="917510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722" name="4"/>
              <p:cNvSpPr/>
              <p:nvPr/>
            </p:nvSpPr>
            <p:spPr>
              <a:xfrm>
                <a:off x="1377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723" name="5"/>
              <p:cNvSpPr/>
              <p:nvPr/>
            </p:nvSpPr>
            <p:spPr>
              <a:xfrm>
                <a:off x="18472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724" name="7"/>
              <p:cNvSpPr/>
              <p:nvPr/>
            </p:nvSpPr>
            <p:spPr>
              <a:xfrm>
                <a:off x="23171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725" name="8"/>
              <p:cNvSpPr/>
              <p:nvPr/>
            </p:nvSpPr>
            <p:spPr>
              <a:xfrm>
                <a:off x="2774388" y="0"/>
                <a:ext cx="464804" cy="464803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/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727" name="OA"/>
            <p:cNvSpPr txBox="1"/>
            <p:nvPr/>
          </p:nvSpPr>
          <p:spPr>
            <a:xfrm>
              <a:off x="0" y="133709"/>
              <a:ext cx="26959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ctr"/>
            </a:lstStyle>
            <a:p>
              <a:pPr/>
              <a:r>
                <a:t>OA</a:t>
              </a:r>
            </a:p>
          </p:txBody>
        </p:sp>
      </p:grpSp>
      <p:sp>
        <p:nvSpPr>
          <p:cNvPr id="729" name="0"/>
          <p:cNvSpPr/>
          <p:nvPr/>
        </p:nvSpPr>
        <p:spPr>
          <a:xfrm>
            <a:off x="762604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730" name="1"/>
          <p:cNvSpPr/>
          <p:nvPr/>
        </p:nvSpPr>
        <p:spPr>
          <a:xfrm>
            <a:off x="1221359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731" name="2"/>
          <p:cNvSpPr/>
          <p:nvPr/>
        </p:nvSpPr>
        <p:spPr>
          <a:xfrm>
            <a:off x="1680115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732" name="7"/>
          <p:cNvSpPr/>
          <p:nvPr/>
        </p:nvSpPr>
        <p:spPr>
          <a:xfrm>
            <a:off x="21399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733" name="3"/>
          <p:cNvSpPr/>
          <p:nvPr/>
        </p:nvSpPr>
        <p:spPr>
          <a:xfrm>
            <a:off x="26098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3</a:t>
            </a:r>
          </a:p>
        </p:txBody>
      </p:sp>
      <p:sp>
        <p:nvSpPr>
          <p:cNvPr id="734" name="0"/>
          <p:cNvSpPr/>
          <p:nvPr/>
        </p:nvSpPr>
        <p:spPr>
          <a:xfrm>
            <a:off x="3079793" y="2559810"/>
            <a:ext cx="464803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735" name="1"/>
          <p:cNvSpPr/>
          <p:nvPr/>
        </p:nvSpPr>
        <p:spPr>
          <a:xfrm>
            <a:off x="3536993" y="2559810"/>
            <a:ext cx="464804" cy="464803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1</a:t>
            </a:r>
          </a:p>
        </p:txBody>
      </p:sp>
      <p:sp>
        <p:nvSpPr>
          <p:cNvPr id="736" name="…"/>
          <p:cNvSpPr/>
          <p:nvPr/>
        </p:nvSpPr>
        <p:spPr>
          <a:xfrm>
            <a:off x="3994193" y="2559810"/>
            <a:ext cx="464804" cy="464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…</a:t>
            </a:r>
          </a:p>
        </p:txBody>
      </p:sp>
      <p:sp>
        <p:nvSpPr>
          <p:cNvPr id="737" name="CA"/>
          <p:cNvSpPr txBox="1"/>
          <p:nvPr/>
        </p:nvSpPr>
        <p:spPr>
          <a:xfrm>
            <a:off x="156983" y="2693519"/>
            <a:ext cx="25969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CA</a:t>
            </a:r>
          </a:p>
        </p:txBody>
      </p:sp>
      <p:sp>
        <p:nvSpPr>
          <p:cNvPr id="738" name="PA"/>
          <p:cNvSpPr txBox="1"/>
          <p:nvPr/>
        </p:nvSpPr>
        <p:spPr>
          <a:xfrm>
            <a:off x="156983" y="3371656"/>
            <a:ext cx="23668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PA</a:t>
            </a:r>
          </a:p>
        </p:txBody>
      </p:sp>
      <p:sp>
        <p:nvSpPr>
          <p:cNvPr id="739" name="0"/>
          <p:cNvSpPr/>
          <p:nvPr/>
        </p:nvSpPr>
        <p:spPr>
          <a:xfrm>
            <a:off x="77008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0</a:t>
            </a:r>
          </a:p>
        </p:txBody>
      </p:sp>
      <p:sp>
        <p:nvSpPr>
          <p:cNvPr id="740" name="2"/>
          <p:cNvSpPr/>
          <p:nvPr/>
        </p:nvSpPr>
        <p:spPr>
          <a:xfrm>
            <a:off x="1228839" y="3237946"/>
            <a:ext cx="464804" cy="46480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741" name="2"/>
          <p:cNvSpPr/>
          <p:nvPr/>
        </p:nvSpPr>
        <p:spPr>
          <a:xfrm>
            <a:off x="1687594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2</a:t>
            </a:r>
          </a:p>
        </p:txBody>
      </p:sp>
      <p:sp>
        <p:nvSpPr>
          <p:cNvPr id="742" name="4"/>
          <p:cNvSpPr/>
          <p:nvPr/>
        </p:nvSpPr>
        <p:spPr>
          <a:xfrm>
            <a:off x="2147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4</a:t>
            </a:r>
          </a:p>
        </p:txBody>
      </p:sp>
      <p:sp>
        <p:nvSpPr>
          <p:cNvPr id="743" name="5"/>
          <p:cNvSpPr/>
          <p:nvPr/>
        </p:nvSpPr>
        <p:spPr>
          <a:xfrm>
            <a:off x="26173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5</a:t>
            </a:r>
          </a:p>
        </p:txBody>
      </p:sp>
      <p:sp>
        <p:nvSpPr>
          <p:cNvPr id="744" name="7"/>
          <p:cNvSpPr/>
          <p:nvPr/>
        </p:nvSpPr>
        <p:spPr>
          <a:xfrm>
            <a:off x="30872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745" name="Ligne"/>
          <p:cNvSpPr/>
          <p:nvPr/>
        </p:nvSpPr>
        <p:spPr>
          <a:xfrm>
            <a:off x="3312194" y="2327042"/>
            <a:ext cx="484406" cy="242594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746" name="Ligne"/>
          <p:cNvSpPr/>
          <p:nvPr/>
        </p:nvSpPr>
        <p:spPr>
          <a:xfrm>
            <a:off x="3747504" y="2338446"/>
            <a:ext cx="458324" cy="217053"/>
          </a:xfrm>
          <a:prstGeom prst="line">
            <a:avLst/>
          </a:prstGeom>
          <a:ln w="25400">
            <a:solidFill>
              <a:schemeClr val="accent2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747" name="7"/>
          <p:cNvSpPr/>
          <p:nvPr/>
        </p:nvSpPr>
        <p:spPr>
          <a:xfrm>
            <a:off x="35444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748" name="7"/>
          <p:cNvSpPr/>
          <p:nvPr/>
        </p:nvSpPr>
        <p:spPr>
          <a:xfrm>
            <a:off x="4001672" y="3237946"/>
            <a:ext cx="464804" cy="46480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7</a:t>
            </a:r>
          </a:p>
        </p:txBody>
      </p:sp>
      <p:sp>
        <p:nvSpPr>
          <p:cNvPr id="749" name="An example with PageRank"/>
          <p:cNvSpPr txBox="1"/>
          <p:nvPr/>
        </p:nvSpPr>
        <p:spPr>
          <a:xfrm>
            <a:off x="1017830" y="1231728"/>
            <a:ext cx="3645992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b="1" sz="2200">
                <a:solidFill>
                  <a:schemeClr val="accent6"/>
                </a:solidFill>
              </a:defRPr>
            </a:lvl1pPr>
          </a:lstStyle>
          <a:p>
            <a:pPr/>
            <a:r>
              <a:t>An example with PageRank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XSBench: Scientific workloa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XSBench: Scientific workloads</a:t>
            </a:r>
          </a:p>
        </p:txBody>
      </p:sp>
      <p:sp>
        <p:nvSpPr>
          <p:cNvPr id="752" name="XSBench is an initiative of Tramm and Siegel to build an approximation of OpenMC (a simulation used in Nuclear Physics) by exposing only the core code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XSBench is an initiative of </a:t>
            </a:r>
            <a:r>
              <a:rPr i="1"/>
              <a:t>Tramm and Siegel</a:t>
            </a:r>
            <a:r>
              <a:t> to build an approximation of OpenMC (a simulation used in Nuclear Physics) by exposing only the core code.</a:t>
            </a:r>
          </a:p>
          <a:p>
            <a:pPr/>
            <a:r>
              <a:t>In an effort to approximate the real behavior of such a simulation, the events triggering cross-section lookups are randomly generated</a:t>
            </a:r>
          </a:p>
          <a:p>
            <a:pPr lvl="1">
              <a:buChar char="●"/>
            </a:pPr>
            <a:r>
              <a:t>Authors argue that it is a very good approx.</a:t>
            </a:r>
          </a:p>
          <a:p>
            <a:pPr lvl="1">
              <a:buChar char="●"/>
            </a:pPr>
            <a:r>
              <a:t>Lead to </a:t>
            </a:r>
            <a:r>
              <a:rPr i="1"/>
              <a:t>hard-to-predict</a:t>
            </a:r>
            <a:r>
              <a:t> access patterns &amp; poor cache utilization</a:t>
            </a:r>
          </a:p>
        </p:txBody>
      </p:sp>
      <p:pic>
        <p:nvPicPr>
          <p:cNvPr id="75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582" y="2754259"/>
            <a:ext cx="5431201" cy="16779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204;p5" descr="Google Shape;204;p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40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756" name="Google Shape;205;p5"/>
          <p:cNvSpPr txBox="1"/>
          <p:nvPr/>
        </p:nvSpPr>
        <p:spPr>
          <a:xfrm>
            <a:off x="2026805" y="3003658"/>
            <a:ext cx="8137430" cy="85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90000"/>
              </a:lnSpc>
              <a:defRPr b="1" sz="6000">
                <a:solidFill>
                  <a:srgbClr val="12448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Replacement Policies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Reuse-Distance Predi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Reuse-Distance Prediction</a:t>
            </a:r>
          </a:p>
        </p:txBody>
      </p:sp>
      <p:sp>
        <p:nvSpPr>
          <p:cNvPr id="759" name="SRRIP &amp; DRRIP are based on the idea of Re-Reference Prediction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SRRIP &amp; DRRIP are based on the idea of Re-Reference Prediction</a:t>
            </a:r>
          </a:p>
          <a:p>
            <a:pPr lvl="1">
              <a:buChar char="●"/>
            </a:pPr>
            <a:r>
              <a:t>They try to classify blocks in groups from </a:t>
            </a:r>
            <a:r>
              <a:rPr i="1"/>
              <a:t>immediate-reuse</a:t>
            </a:r>
            <a:r>
              <a:t> to </a:t>
            </a:r>
            <a:r>
              <a:rPr i="1"/>
              <a:t>distant-reuse</a:t>
            </a:r>
            <a:endParaRPr i="1"/>
          </a:p>
          <a:p>
            <a:pPr/>
            <a:r>
              <a:t>Blocks classified as </a:t>
            </a:r>
            <a:r>
              <a:rPr i="1"/>
              <a:t>distant-reuse</a:t>
            </a:r>
            <a:r>
              <a:t> will be favored for eviction</a:t>
            </a:r>
          </a:p>
        </p:txBody>
      </p:sp>
      <p:pic>
        <p:nvPicPr>
          <p:cNvPr id="76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78118" y="1708443"/>
            <a:ext cx="2234318" cy="3977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ignature-based Hit Predi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Signature-based Hit Prediction</a:t>
            </a:r>
          </a:p>
        </p:txBody>
      </p:sp>
      <p:sp>
        <p:nvSpPr>
          <p:cNvPr id="763" name="SHiP is a dead-block predictor based on SRRIP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SHiP is a dead-block predictor based on SRRIP</a:t>
            </a:r>
          </a:p>
          <a:p>
            <a:pPr/>
            <a:r>
              <a:t>It learns the likelihood of blocks with similar signatures to experience hits</a:t>
            </a:r>
          </a:p>
          <a:p>
            <a:pPr/>
            <a:r>
              <a:t>On a hit the counter associated to a signature is incremented</a:t>
            </a:r>
          </a:p>
          <a:p>
            <a:pPr/>
            <a:r>
              <a:t>The SRRIP insertion policy is modified</a:t>
            </a:r>
          </a:p>
          <a:p>
            <a:pPr lvl="1">
              <a:buChar char="●"/>
            </a:pPr>
            <a:r>
              <a:t>Low confidence blocks are inserted in the </a:t>
            </a:r>
            <a:r>
              <a:rPr i="1"/>
              <a:t>distant-reuse</a:t>
            </a:r>
            <a:r>
              <a:t> position</a:t>
            </a:r>
          </a:p>
        </p:txBody>
      </p:sp>
      <p:pic>
        <p:nvPicPr>
          <p:cNvPr id="76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78118" y="1708443"/>
            <a:ext cx="2234318" cy="3977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Multiperspective Reuse Predi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Multiperspective Reuse Prediction</a:t>
            </a:r>
          </a:p>
        </p:txBody>
      </p:sp>
      <p:sp>
        <p:nvSpPr>
          <p:cNvPr id="767" name="Multiperspective Reuse Prediction is a dead-block prediction &amp; bypass mechanism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i="1"/>
              <a:t>Multiperspective Reuse Prediction</a:t>
            </a:r>
            <a:r>
              <a:t> is a dead-block prediction &amp; bypass mechanism</a:t>
            </a:r>
          </a:p>
          <a:p>
            <a:pPr/>
            <a:r>
              <a:t>A sampler triggers learning signals based on whether a block hits or gets evicted</a:t>
            </a:r>
          </a:p>
          <a:p>
            <a:pPr/>
            <a:r>
              <a:t>A hashed-perceptron is used to learn correlation between the access patterns and features</a:t>
            </a:r>
          </a:p>
          <a:p>
            <a:pPr/>
            <a:r>
              <a:t>Features are obtained through a </a:t>
            </a:r>
            <a:r>
              <a:rPr i="1"/>
              <a:t>« gradient-descent » </a:t>
            </a:r>
            <a:r>
              <a:t>algorithm</a:t>
            </a:r>
          </a:p>
          <a:p>
            <a:pPr/>
            <a:r>
              <a:t>On an access, the hashed-perceptron is indexed to build a prediction value</a:t>
            </a:r>
          </a:p>
          <a:p>
            <a:pPr lvl="1">
              <a:buChar char="●"/>
            </a:pPr>
            <a:r>
              <a:t>Actions are triggered depending on the prediction value</a:t>
            </a:r>
          </a:p>
        </p:txBody>
      </p:sp>
      <p:pic>
        <p:nvPicPr>
          <p:cNvPr id="76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6608" y="2533478"/>
            <a:ext cx="5431201" cy="21194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Optimal Replacement Approxim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Optimal Replacement Approximation</a:t>
            </a:r>
          </a:p>
        </p:txBody>
      </p:sp>
      <p:sp>
        <p:nvSpPr>
          <p:cNvPr id="771" name="Techniques such as Glider &amp; Hawkeye intend to approximate Belady’s MIN replacement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Techniques such as Glider &amp; Hawkeye intend to approximate Belady’s MIN replacement.</a:t>
            </a:r>
          </a:p>
          <a:p>
            <a:pPr/>
            <a:r>
              <a:t>Jain’s OPTgen component is used generate binary learning signals on whether a block should be kept in the cache.</a:t>
            </a:r>
          </a:p>
          <a:p>
            <a:pPr/>
            <a:r>
              <a:t>A predictor is then used to learn correlations and to produce prediction</a:t>
            </a:r>
          </a:p>
        </p:txBody>
      </p:sp>
      <p:pic>
        <p:nvPicPr>
          <p:cNvPr id="77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9831" y="2758482"/>
            <a:ext cx="5431201" cy="16694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210;p6" descr="Google Shape;21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40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775" name="Google Shape;211;p6"/>
          <p:cNvSpPr txBox="1"/>
          <p:nvPr/>
        </p:nvSpPr>
        <p:spPr>
          <a:xfrm>
            <a:off x="2026805" y="3003658"/>
            <a:ext cx="8137430" cy="85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90000"/>
              </a:lnSpc>
              <a:defRPr b="1" sz="6000">
                <a:solidFill>
                  <a:srgbClr val="12448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Methodology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Methodology &amp; too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Methodology &amp; tools</a:t>
            </a:r>
          </a:p>
        </p:txBody>
      </p:sp>
      <p:sp>
        <p:nvSpPr>
          <p:cNvPr id="778" name="Using ChampSim, a detailed trace-based simulator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Using ChampSim, a detailed trace-based simulator</a:t>
            </a:r>
          </a:p>
          <a:p>
            <a:pPr lvl="1">
              <a:buChar char="●"/>
            </a:pPr>
            <a:r>
              <a:t>Out-of-Order CPU</a:t>
            </a:r>
          </a:p>
          <a:p>
            <a:pPr lvl="1">
              <a:buChar char="●"/>
            </a:pPr>
            <a:r>
              <a:t>Memory hierarchy</a:t>
            </a:r>
          </a:p>
          <a:p>
            <a:pPr lvl="1">
              <a:buChar char="●"/>
            </a:pPr>
            <a:r>
              <a:t>Knobs are shown in the table</a:t>
            </a:r>
          </a:p>
          <a:p>
            <a:pPr/>
            <a:r>
              <a:t>Traces are obtained with the SimPoints methodology</a:t>
            </a:r>
          </a:p>
          <a:p>
            <a:pPr lvl="1">
              <a:buChar char="●"/>
            </a:pPr>
            <a:r>
              <a:t>each trace is 1B instructions long</a:t>
            </a:r>
          </a:p>
          <a:p>
            <a:pPr lvl="1">
              <a:buChar char="●"/>
            </a:pPr>
            <a:r>
              <a:t>Up to 10 traces/workload representative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</m:oMath>
            </a14:m>
            <a:r>
              <a:t> 5%</a:t>
            </a:r>
          </a:p>
          <a:p>
            <a:pPr/>
            <a:r>
              <a:t>Graph-processing traces cover all the possible combination of kernel/input-graph</a:t>
            </a:r>
          </a:p>
        </p:txBody>
      </p:sp>
      <p:pic>
        <p:nvPicPr>
          <p:cNvPr id="77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3631" y="1604525"/>
            <a:ext cx="5799384" cy="3977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210;p6" descr="Google Shape;21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40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782" name="Google Shape;211;p6"/>
          <p:cNvSpPr txBox="1"/>
          <p:nvPr/>
        </p:nvSpPr>
        <p:spPr>
          <a:xfrm>
            <a:off x="2026805" y="3003658"/>
            <a:ext cx="8137430" cy="85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90000"/>
              </a:lnSpc>
              <a:defRPr b="1" sz="6000">
                <a:solidFill>
                  <a:srgbClr val="12448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Proposed designs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Extensions to MPPP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Extensions to MPPPB</a:t>
            </a:r>
          </a:p>
        </p:txBody>
      </p:sp>
      <p:sp>
        <p:nvSpPr>
          <p:cNvPr id="785" name="To cope with the different nature of the newly introduced workloads, we introduce two extensions to the Multiperspective Reuse Prediction…"/>
          <p:cNvSpPr txBox="1"/>
          <p:nvPr>
            <p:ph type="body" sz="half" idx="1"/>
          </p:nvPr>
        </p:nvSpPr>
        <p:spPr>
          <a:xfrm>
            <a:off x="6982135" y="1604525"/>
            <a:ext cx="4599743" cy="4864732"/>
          </a:xfrm>
          <a:prstGeom prst="rect">
            <a:avLst/>
          </a:prstGeom>
        </p:spPr>
        <p:txBody>
          <a:bodyPr anchor="t"/>
          <a:lstStyle/>
          <a:p>
            <a:pPr>
              <a:buSzPts val="1700"/>
              <a:defRPr sz="1700"/>
            </a:pPr>
            <a:r>
              <a:t>To cope with the different nature of the newly introduced workloads, we introduce two extensions to the </a:t>
            </a:r>
            <a:r>
              <a:rPr i="1"/>
              <a:t>Multiperspective Reuse Prediction</a:t>
            </a:r>
          </a:p>
          <a:p>
            <a:pPr lvl="1">
              <a:buSzPts val="1700"/>
              <a:buChar char="●"/>
              <a:defRPr sz="1700"/>
            </a:pPr>
            <a:r>
              <a:t>Designed to adapt the predictor to phase changes &amp; correlation with different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Extensions to MPPPB (MS-MPPPB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Extensions to MPPPB (MS-MPPPB)</a:t>
            </a:r>
          </a:p>
        </p:txBody>
      </p:sp>
      <p:sp>
        <p:nvSpPr>
          <p:cNvPr id="788" name="To cope with the different nature of the newly introduced workloads, we introduce two extensions to the Multiperspective Reuse Prediction…"/>
          <p:cNvSpPr txBox="1"/>
          <p:nvPr>
            <p:ph type="body" sz="half" idx="1"/>
          </p:nvPr>
        </p:nvSpPr>
        <p:spPr>
          <a:xfrm>
            <a:off x="6982135" y="1604525"/>
            <a:ext cx="4599743" cy="4864732"/>
          </a:xfrm>
          <a:prstGeom prst="rect">
            <a:avLst/>
          </a:prstGeom>
        </p:spPr>
        <p:txBody>
          <a:bodyPr anchor="t"/>
          <a:lstStyle/>
          <a:p>
            <a:pPr marL="448055" indent="-224027" defTabSz="896111">
              <a:buSzPts val="1600"/>
              <a:defRPr sz="1666"/>
            </a:pPr>
            <a:r>
              <a:t>To cope with the different nature of the newly introduced workloads, we introduce two extensions to the </a:t>
            </a:r>
            <a:r>
              <a:rPr i="1"/>
              <a:t>Multiperspective Reuse Prediction</a:t>
            </a:r>
          </a:p>
          <a:p>
            <a:pPr lvl="1" marL="896111" indent="-224027" defTabSz="896111">
              <a:buSzPts val="1600"/>
              <a:buChar char="●"/>
              <a:defRPr sz="1666"/>
            </a:pPr>
            <a:r>
              <a:t>Designed to adapt the predictor to phase changes &amp; correlation with different features</a:t>
            </a:r>
          </a:p>
          <a:p>
            <a:pPr lvl="1" marL="896111" indent="-224027" defTabSz="896111">
              <a:buSzPts val="1600"/>
              <a:buChar char="●"/>
              <a:defRPr sz="1666"/>
            </a:pPr>
            <a:r>
              <a:rPr b="1"/>
              <a:t>MS-MPPPB</a:t>
            </a:r>
            <a:r>
              <a:t>: makes use of multiple samplers</a:t>
            </a:r>
          </a:p>
          <a:p>
            <a:pPr marL="448055" indent="-224027" defTabSz="896111">
              <a:buSzPts val="1600"/>
              <a:defRPr sz="1666"/>
            </a:pPr>
            <a:r>
              <a:t>MS-MPPPB extends the original </a:t>
            </a:r>
            <a:r>
              <a:rPr i="1"/>
              <a:t>Multiperspecitve</a:t>
            </a:r>
            <a:r>
              <a:t> by using 4 samplers &amp; 4 hashed-perceptrons</a:t>
            </a:r>
          </a:p>
          <a:p>
            <a:pPr marL="448055" indent="-224027" defTabSz="896111">
              <a:buSzPts val="1600"/>
              <a:defRPr sz="1666"/>
            </a:pPr>
            <a:r>
              <a:t>Each samplers are accessed in parallel on an access</a:t>
            </a:r>
          </a:p>
          <a:p>
            <a:pPr lvl="1" marL="896111" indent="-224027" defTabSz="896111">
              <a:buSzPts val="1600"/>
              <a:buChar char="●"/>
              <a:defRPr sz="1666"/>
            </a:pPr>
            <a:r>
              <a:t>The associated hashed-perceptrons are trained</a:t>
            </a:r>
          </a:p>
          <a:p>
            <a:pPr marL="448055" indent="-224027" defTabSz="896111">
              <a:buSzPts val="1600"/>
              <a:defRPr sz="1666"/>
            </a:pPr>
            <a:r>
              <a:t>When the cache needs a prediction, the best hashed-perceptron is selected using a set-dueling mechanism</a:t>
            </a:r>
          </a:p>
        </p:txBody>
      </p:sp>
      <p:sp>
        <p:nvSpPr>
          <p:cNvPr id="789" name="LLC"/>
          <p:cNvSpPr/>
          <p:nvPr/>
        </p:nvSpPr>
        <p:spPr>
          <a:xfrm>
            <a:off x="5524499" y="3107239"/>
            <a:ext cx="1270001" cy="24749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L="228600" indent="-228600" algn="ctr">
              <a:defRPr sz="1800"/>
            </a:lvl1pPr>
          </a:lstStyle>
          <a:p>
            <a:pPr/>
            <a:r>
              <a:t>LLC</a:t>
            </a:r>
          </a:p>
        </p:txBody>
      </p:sp>
      <p:sp>
        <p:nvSpPr>
          <p:cNvPr id="790" name="Rectangle"/>
          <p:cNvSpPr/>
          <p:nvPr/>
        </p:nvSpPr>
        <p:spPr>
          <a:xfrm>
            <a:off x="2765109" y="3709728"/>
            <a:ext cx="1413371" cy="12700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91" name="Perceptron #1"/>
          <p:cNvSpPr/>
          <p:nvPr/>
        </p:nvSpPr>
        <p:spPr>
          <a:xfrm>
            <a:off x="2863659" y="3785028"/>
            <a:ext cx="518772" cy="11194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/>
            </a:lvl1pPr>
          </a:lstStyle>
          <a:p>
            <a:pPr/>
            <a:r>
              <a:t>Perceptron #1</a:t>
            </a:r>
          </a:p>
        </p:txBody>
      </p:sp>
      <p:sp>
        <p:nvSpPr>
          <p:cNvPr id="792" name="Perceptron #2"/>
          <p:cNvSpPr/>
          <p:nvPr/>
        </p:nvSpPr>
        <p:spPr>
          <a:xfrm>
            <a:off x="3551043" y="3785028"/>
            <a:ext cx="518771" cy="11194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/>
            </a:lvl1pPr>
          </a:lstStyle>
          <a:p>
            <a:pPr/>
            <a:r>
              <a:t>Perceptron #2</a:t>
            </a:r>
          </a:p>
        </p:txBody>
      </p:sp>
      <p:sp>
        <p:nvSpPr>
          <p:cNvPr id="793" name="Rectangle"/>
          <p:cNvSpPr/>
          <p:nvPr/>
        </p:nvSpPr>
        <p:spPr>
          <a:xfrm>
            <a:off x="121698" y="3423697"/>
            <a:ext cx="1923859" cy="184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94" name="Sampler #1"/>
          <p:cNvSpPr/>
          <p:nvPr/>
        </p:nvSpPr>
        <p:spPr>
          <a:xfrm>
            <a:off x="248698" y="3550697"/>
            <a:ext cx="754022" cy="1588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100"/>
            </a:lvl1pPr>
          </a:lstStyle>
          <a:p>
            <a:pPr/>
            <a:r>
              <a:t>Sampler #1</a:t>
            </a:r>
          </a:p>
        </p:txBody>
      </p:sp>
      <p:sp>
        <p:nvSpPr>
          <p:cNvPr id="795" name="Sampler #2"/>
          <p:cNvSpPr/>
          <p:nvPr/>
        </p:nvSpPr>
        <p:spPr>
          <a:xfrm>
            <a:off x="1151396" y="3550697"/>
            <a:ext cx="754021" cy="1588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100"/>
            </a:lvl1pPr>
          </a:lstStyle>
          <a:p>
            <a:pPr/>
            <a:r>
              <a:t>Sampler #2</a:t>
            </a:r>
          </a:p>
        </p:txBody>
      </p:sp>
      <p:sp>
        <p:nvSpPr>
          <p:cNvPr id="796" name="Ligne"/>
          <p:cNvSpPr/>
          <p:nvPr/>
        </p:nvSpPr>
        <p:spPr>
          <a:xfrm>
            <a:off x="2041393" y="4378372"/>
            <a:ext cx="73067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800" name="Groupe"/>
          <p:cNvGrpSpPr/>
          <p:nvPr/>
        </p:nvGrpSpPr>
        <p:grpSpPr>
          <a:xfrm>
            <a:off x="4614245" y="4145584"/>
            <a:ext cx="474489" cy="474489"/>
            <a:chOff x="0" y="0"/>
            <a:chExt cx="474488" cy="474488"/>
          </a:xfrm>
        </p:grpSpPr>
        <p:sp>
          <p:nvSpPr>
            <p:cNvPr id="797" name="Cercle"/>
            <p:cNvSpPr/>
            <p:nvPr/>
          </p:nvSpPr>
          <p:spPr>
            <a:xfrm>
              <a:off x="0" y="0"/>
              <a:ext cx="474489" cy="47448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98" name="Ligne"/>
            <p:cNvSpPr/>
            <p:nvPr/>
          </p:nvSpPr>
          <p:spPr>
            <a:xfrm flipV="1">
              <a:off x="63884" y="65152"/>
              <a:ext cx="345452" cy="34545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99" name="Ligne"/>
            <p:cNvSpPr/>
            <p:nvPr/>
          </p:nvSpPr>
          <p:spPr>
            <a:xfrm flipH="1" flipV="1">
              <a:off x="51184" y="65152"/>
              <a:ext cx="345452" cy="34545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  <p:sp>
        <p:nvSpPr>
          <p:cNvPr id="801" name="Ligne"/>
          <p:cNvSpPr/>
          <p:nvPr/>
        </p:nvSpPr>
        <p:spPr>
          <a:xfrm>
            <a:off x="4193153" y="4382195"/>
            <a:ext cx="419119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02" name="Ligne"/>
          <p:cNvSpPr/>
          <p:nvPr/>
        </p:nvSpPr>
        <p:spPr>
          <a:xfrm>
            <a:off x="5081338" y="4378372"/>
            <a:ext cx="474489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03" name="Ligne"/>
          <p:cNvSpPr/>
          <p:nvPr/>
        </p:nvSpPr>
        <p:spPr>
          <a:xfrm flipH="1">
            <a:off x="1116311" y="2234165"/>
            <a:ext cx="1" cy="11992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04" name="Ligne"/>
          <p:cNvSpPr/>
          <p:nvPr/>
        </p:nvSpPr>
        <p:spPr>
          <a:xfrm>
            <a:off x="6159499" y="2234165"/>
            <a:ext cx="1" cy="91799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05" name="Ligne"/>
          <p:cNvSpPr/>
          <p:nvPr/>
        </p:nvSpPr>
        <p:spPr>
          <a:xfrm>
            <a:off x="3471794" y="2234165"/>
            <a:ext cx="1" cy="14645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06" name="Ligne"/>
          <p:cNvSpPr/>
          <p:nvPr/>
        </p:nvSpPr>
        <p:spPr>
          <a:xfrm>
            <a:off x="1120665" y="2237837"/>
            <a:ext cx="5050552" cy="1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07" name="Ligne"/>
          <p:cNvSpPr/>
          <p:nvPr/>
        </p:nvSpPr>
        <p:spPr>
          <a:xfrm flipV="1">
            <a:off x="3472624" y="1775806"/>
            <a:ext cx="1" cy="474489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808" name="PC, Addr &amp;…"/>
          <p:cNvSpPr txBox="1"/>
          <p:nvPr/>
        </p:nvSpPr>
        <p:spPr>
          <a:xfrm>
            <a:off x="2916895" y="1371704"/>
            <a:ext cx="1109800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t>PC, Addr &amp;</a:t>
            </a:r>
          </a:p>
          <a:p>
            <a:pPr algn="ctr"/>
            <a:r>
              <a:t>other features</a:t>
            </a:r>
          </a:p>
        </p:txBody>
      </p:sp>
      <p:sp>
        <p:nvSpPr>
          <p:cNvPr id="809" name="training signals"/>
          <p:cNvSpPr txBox="1"/>
          <p:nvPr/>
        </p:nvSpPr>
        <p:spPr>
          <a:xfrm rot="17597477">
            <a:off x="2015902" y="3843538"/>
            <a:ext cx="85984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training signals</a:t>
            </a:r>
          </a:p>
        </p:txBody>
      </p:sp>
      <p:sp>
        <p:nvSpPr>
          <p:cNvPr id="810" name="set-dueling"/>
          <p:cNvSpPr txBox="1"/>
          <p:nvPr/>
        </p:nvSpPr>
        <p:spPr>
          <a:xfrm rot="17851547">
            <a:off x="4565135" y="3730378"/>
            <a:ext cx="63399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set-dueling</a:t>
            </a:r>
          </a:p>
        </p:txBody>
      </p:sp>
      <p:sp>
        <p:nvSpPr>
          <p:cNvPr id="811" name="prediction"/>
          <p:cNvSpPr txBox="1"/>
          <p:nvPr/>
        </p:nvSpPr>
        <p:spPr>
          <a:xfrm rot="18095676">
            <a:off x="4994506" y="3969118"/>
            <a:ext cx="563365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prediction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Extensions to MPPPB (DS-MPPPB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Extensions to MPPPB (DS-MPPPB)</a:t>
            </a:r>
          </a:p>
        </p:txBody>
      </p:sp>
      <p:sp>
        <p:nvSpPr>
          <p:cNvPr id="814" name="To cope with the different nature of the newly introduced workloads, we introduce two extensions to the Multiperspective Reuse Prediction…"/>
          <p:cNvSpPr txBox="1"/>
          <p:nvPr/>
        </p:nvSpPr>
        <p:spPr>
          <a:xfrm>
            <a:off x="6982135" y="1604525"/>
            <a:ext cx="4599743" cy="4864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452627" indent="-226313" defTabSz="905255">
              <a:buClr>
                <a:srgbClr val="000000"/>
              </a:buClr>
              <a:buSzPts val="1600"/>
              <a:buFont typeface="Arial"/>
              <a:buChar char="●"/>
              <a:defRPr sz="1683">
                <a:latin typeface="Calibri"/>
                <a:ea typeface="Calibri"/>
                <a:cs typeface="Calibri"/>
                <a:sym typeface="Calibri"/>
              </a:defRPr>
            </a:pPr>
            <a:r>
              <a:t>To cope with the different nature of the newly introduced workloads, we introduce two extensions to the </a:t>
            </a:r>
            <a:r>
              <a:rPr i="1"/>
              <a:t>Multiperspective Reuse Prediction</a:t>
            </a:r>
          </a:p>
          <a:p>
            <a:pPr lvl="1" marL="905255" indent="-226313" defTabSz="905255">
              <a:buClr>
                <a:srgbClr val="000000"/>
              </a:buClr>
              <a:buSzPts val="1600"/>
              <a:buFont typeface="Arial"/>
              <a:buChar char="●"/>
              <a:defRPr sz="1683">
                <a:latin typeface="Calibri"/>
                <a:ea typeface="Calibri"/>
                <a:cs typeface="Calibri"/>
                <a:sym typeface="Calibri"/>
              </a:defRPr>
            </a:pPr>
            <a:r>
              <a:t>Designed to adapt the predictor to phase changes &amp; correlation with different features</a:t>
            </a:r>
          </a:p>
          <a:p>
            <a:pPr lvl="1" marL="905255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DS-MPPPB</a:t>
            </a:r>
            <a:r>
              <a:t>: allows to dynamically select the best behaving features in a phase-wise manner</a:t>
            </a:r>
          </a:p>
          <a:p>
            <a:pPr marL="452627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t>The </a:t>
            </a:r>
            <a:r>
              <a:rPr i="1"/>
              <a:t>« quality »</a:t>
            </a:r>
            <a:r>
              <a:t> of a feature is measured through a </a:t>
            </a:r>
            <a:r>
              <a:rPr i="1"/>
              <a:t>« coefficient »</a:t>
            </a:r>
          </a:p>
          <a:p>
            <a:pPr marL="452627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t>DS-MPPPB extends the original </a:t>
            </a:r>
            <a:r>
              <a:rPr i="1"/>
              <a:t>Multiperspective</a:t>
            </a:r>
            <a:r>
              <a:t> by training a large set of 64 features while predicting with only a subset of the 16 features</a:t>
            </a:r>
          </a:p>
          <a:p>
            <a:pPr marL="452627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t>On a prediction, only the 16 best behaving features are used</a:t>
            </a:r>
          </a:p>
        </p:txBody>
      </p:sp>
      <p:grpSp>
        <p:nvGrpSpPr>
          <p:cNvPr id="817" name="Groupe"/>
          <p:cNvGrpSpPr/>
          <p:nvPr/>
        </p:nvGrpSpPr>
        <p:grpSpPr>
          <a:xfrm>
            <a:off x="998108" y="1849859"/>
            <a:ext cx="3124186" cy="364796"/>
            <a:chOff x="0" y="0"/>
            <a:chExt cx="3124185" cy="364795"/>
          </a:xfrm>
        </p:grpSpPr>
        <p:sp>
          <p:nvSpPr>
            <p:cNvPr id="815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16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20" name="Groupe"/>
          <p:cNvGrpSpPr/>
          <p:nvPr/>
        </p:nvGrpSpPr>
        <p:grpSpPr>
          <a:xfrm>
            <a:off x="1125108" y="1976859"/>
            <a:ext cx="3124187" cy="364796"/>
            <a:chOff x="0" y="0"/>
            <a:chExt cx="3124185" cy="364795"/>
          </a:xfrm>
        </p:grpSpPr>
        <p:sp>
          <p:nvSpPr>
            <p:cNvPr id="818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19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23" name="Groupe"/>
          <p:cNvGrpSpPr/>
          <p:nvPr/>
        </p:nvGrpSpPr>
        <p:grpSpPr>
          <a:xfrm>
            <a:off x="1252108" y="2103859"/>
            <a:ext cx="3124187" cy="364796"/>
            <a:chOff x="0" y="0"/>
            <a:chExt cx="3124185" cy="364795"/>
          </a:xfrm>
        </p:grpSpPr>
        <p:sp>
          <p:nvSpPr>
            <p:cNvPr id="821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22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26" name="Groupe"/>
          <p:cNvGrpSpPr/>
          <p:nvPr/>
        </p:nvGrpSpPr>
        <p:grpSpPr>
          <a:xfrm>
            <a:off x="1379108" y="2230859"/>
            <a:ext cx="3124187" cy="364796"/>
            <a:chOff x="0" y="0"/>
            <a:chExt cx="3124185" cy="364795"/>
          </a:xfrm>
        </p:grpSpPr>
        <p:sp>
          <p:nvSpPr>
            <p:cNvPr id="824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25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29" name="Groupe"/>
          <p:cNvGrpSpPr/>
          <p:nvPr/>
        </p:nvGrpSpPr>
        <p:grpSpPr>
          <a:xfrm>
            <a:off x="1506108" y="2357859"/>
            <a:ext cx="3124187" cy="364796"/>
            <a:chOff x="0" y="0"/>
            <a:chExt cx="3124185" cy="364795"/>
          </a:xfrm>
        </p:grpSpPr>
        <p:sp>
          <p:nvSpPr>
            <p:cNvPr id="827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28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32" name="Groupe"/>
          <p:cNvGrpSpPr/>
          <p:nvPr/>
        </p:nvGrpSpPr>
        <p:grpSpPr>
          <a:xfrm>
            <a:off x="1633108" y="2484859"/>
            <a:ext cx="3124187" cy="364796"/>
            <a:chOff x="0" y="0"/>
            <a:chExt cx="3124185" cy="364795"/>
          </a:xfrm>
        </p:grpSpPr>
        <p:sp>
          <p:nvSpPr>
            <p:cNvPr id="830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31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35" name="Groupe"/>
          <p:cNvGrpSpPr/>
          <p:nvPr/>
        </p:nvGrpSpPr>
        <p:grpSpPr>
          <a:xfrm>
            <a:off x="1760108" y="2611859"/>
            <a:ext cx="3124186" cy="364796"/>
            <a:chOff x="0" y="0"/>
            <a:chExt cx="3124185" cy="364795"/>
          </a:xfrm>
        </p:grpSpPr>
        <p:sp>
          <p:nvSpPr>
            <p:cNvPr id="833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34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38" name="Groupe"/>
          <p:cNvGrpSpPr/>
          <p:nvPr/>
        </p:nvGrpSpPr>
        <p:grpSpPr>
          <a:xfrm>
            <a:off x="1887108" y="2738859"/>
            <a:ext cx="3124186" cy="364796"/>
            <a:chOff x="0" y="0"/>
            <a:chExt cx="3124185" cy="364795"/>
          </a:xfrm>
        </p:grpSpPr>
        <p:sp>
          <p:nvSpPr>
            <p:cNvPr id="836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37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Extensions to MPPPB (DS-MPPPB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Extensions to MPPPB (DS-MPPPB)</a:t>
            </a:r>
          </a:p>
        </p:txBody>
      </p:sp>
      <p:sp>
        <p:nvSpPr>
          <p:cNvPr id="841" name="To cope with the different nature of the newly introduced workloads, we introduce two extensions to the Multiperspective Reuse Prediction…"/>
          <p:cNvSpPr txBox="1"/>
          <p:nvPr/>
        </p:nvSpPr>
        <p:spPr>
          <a:xfrm>
            <a:off x="6982135" y="1604525"/>
            <a:ext cx="4599743" cy="4864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452627" indent="-226313" defTabSz="905255">
              <a:buClr>
                <a:srgbClr val="000000"/>
              </a:buClr>
              <a:buSzPts val="1600"/>
              <a:buFont typeface="Arial"/>
              <a:buChar char="●"/>
              <a:defRPr sz="1683">
                <a:latin typeface="Calibri"/>
                <a:ea typeface="Calibri"/>
                <a:cs typeface="Calibri"/>
                <a:sym typeface="Calibri"/>
              </a:defRPr>
            </a:pPr>
            <a:r>
              <a:t>To cope with the different nature of the newly introduced workloads, we introduce two extensions to the </a:t>
            </a:r>
            <a:r>
              <a:rPr i="1"/>
              <a:t>Multiperspective Reuse Prediction</a:t>
            </a:r>
          </a:p>
          <a:p>
            <a:pPr lvl="1" marL="905255" indent="-226313" defTabSz="905255">
              <a:buClr>
                <a:srgbClr val="000000"/>
              </a:buClr>
              <a:buSzPts val="1600"/>
              <a:buFont typeface="Arial"/>
              <a:buChar char="●"/>
              <a:defRPr sz="1683">
                <a:latin typeface="Calibri"/>
                <a:ea typeface="Calibri"/>
                <a:cs typeface="Calibri"/>
                <a:sym typeface="Calibri"/>
              </a:defRPr>
            </a:pPr>
            <a:r>
              <a:t>Designed to adapt the predictor to phase changes &amp; correlation with different features</a:t>
            </a:r>
          </a:p>
          <a:p>
            <a:pPr lvl="1" marL="905255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rPr b="1"/>
              <a:t>DS-MPPPB</a:t>
            </a:r>
            <a:r>
              <a:t>: allows to dynamically select the best behaving features in a phase-wise manner</a:t>
            </a:r>
          </a:p>
          <a:p>
            <a:pPr marL="452627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t>The </a:t>
            </a:r>
            <a:r>
              <a:rPr i="1"/>
              <a:t>« quality »</a:t>
            </a:r>
            <a:r>
              <a:t> of a feature is measured through a </a:t>
            </a:r>
            <a:r>
              <a:rPr i="1"/>
              <a:t>« coefficient »</a:t>
            </a:r>
          </a:p>
          <a:p>
            <a:pPr marL="452627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t>DS-MPPPB extends the original </a:t>
            </a:r>
            <a:r>
              <a:rPr i="1"/>
              <a:t>Multiperspective</a:t>
            </a:r>
            <a:r>
              <a:t> by training a large set of 64 features while predicting with only a subset of the 16 features</a:t>
            </a:r>
          </a:p>
          <a:p>
            <a:pPr marL="452627" indent="-226313" defTabSz="905255">
              <a:buClr>
                <a:srgbClr val="000000"/>
              </a:buClr>
              <a:buSzPts val="1700"/>
              <a:buFont typeface="Arial"/>
              <a:buChar char="●"/>
              <a:defRPr sz="1782">
                <a:latin typeface="Calibri"/>
                <a:ea typeface="Calibri"/>
                <a:cs typeface="Calibri"/>
                <a:sym typeface="Calibri"/>
              </a:defRPr>
            </a:pPr>
            <a:r>
              <a:t>On a prediction, only the 16 best behaving features are used</a:t>
            </a:r>
          </a:p>
        </p:txBody>
      </p:sp>
      <p:grpSp>
        <p:nvGrpSpPr>
          <p:cNvPr id="844" name="Groupe"/>
          <p:cNvGrpSpPr/>
          <p:nvPr/>
        </p:nvGrpSpPr>
        <p:grpSpPr>
          <a:xfrm>
            <a:off x="195632" y="1783723"/>
            <a:ext cx="3124187" cy="364796"/>
            <a:chOff x="0" y="0"/>
            <a:chExt cx="3124185" cy="364795"/>
          </a:xfrm>
        </p:grpSpPr>
        <p:sp>
          <p:nvSpPr>
            <p:cNvPr id="842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43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47" name="Groupe"/>
          <p:cNvGrpSpPr/>
          <p:nvPr/>
        </p:nvGrpSpPr>
        <p:grpSpPr>
          <a:xfrm>
            <a:off x="195632" y="2234529"/>
            <a:ext cx="3124187" cy="364796"/>
            <a:chOff x="0" y="0"/>
            <a:chExt cx="3124185" cy="364795"/>
          </a:xfrm>
        </p:grpSpPr>
        <p:sp>
          <p:nvSpPr>
            <p:cNvPr id="845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46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50" name="Groupe"/>
          <p:cNvGrpSpPr/>
          <p:nvPr/>
        </p:nvGrpSpPr>
        <p:grpSpPr>
          <a:xfrm>
            <a:off x="195632" y="2685335"/>
            <a:ext cx="3124187" cy="364796"/>
            <a:chOff x="0" y="0"/>
            <a:chExt cx="3124185" cy="364795"/>
          </a:xfrm>
        </p:grpSpPr>
        <p:sp>
          <p:nvSpPr>
            <p:cNvPr id="848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49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53" name="Groupe"/>
          <p:cNvGrpSpPr/>
          <p:nvPr/>
        </p:nvGrpSpPr>
        <p:grpSpPr>
          <a:xfrm>
            <a:off x="195632" y="3180466"/>
            <a:ext cx="3124187" cy="364796"/>
            <a:chOff x="0" y="0"/>
            <a:chExt cx="3124185" cy="364795"/>
          </a:xfrm>
        </p:grpSpPr>
        <p:sp>
          <p:nvSpPr>
            <p:cNvPr id="851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52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56" name="Groupe"/>
          <p:cNvGrpSpPr/>
          <p:nvPr/>
        </p:nvGrpSpPr>
        <p:grpSpPr>
          <a:xfrm>
            <a:off x="195632" y="3675597"/>
            <a:ext cx="3124187" cy="364796"/>
            <a:chOff x="0" y="0"/>
            <a:chExt cx="3124185" cy="364795"/>
          </a:xfrm>
        </p:grpSpPr>
        <p:sp>
          <p:nvSpPr>
            <p:cNvPr id="854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55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59" name="Groupe"/>
          <p:cNvGrpSpPr/>
          <p:nvPr/>
        </p:nvGrpSpPr>
        <p:grpSpPr>
          <a:xfrm>
            <a:off x="195632" y="4170729"/>
            <a:ext cx="3124187" cy="364796"/>
            <a:chOff x="0" y="0"/>
            <a:chExt cx="3124185" cy="364795"/>
          </a:xfrm>
        </p:grpSpPr>
        <p:sp>
          <p:nvSpPr>
            <p:cNvPr id="857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58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62" name="Groupe"/>
          <p:cNvGrpSpPr/>
          <p:nvPr/>
        </p:nvGrpSpPr>
        <p:grpSpPr>
          <a:xfrm>
            <a:off x="195632" y="4665860"/>
            <a:ext cx="3124187" cy="364796"/>
            <a:chOff x="0" y="0"/>
            <a:chExt cx="3124185" cy="364795"/>
          </a:xfrm>
        </p:grpSpPr>
        <p:sp>
          <p:nvSpPr>
            <p:cNvPr id="860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61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m:oMathPara>
              </a14:m>
            </a:p>
          </p:txBody>
        </p:sp>
      </p:grpSp>
      <p:grpSp>
        <p:nvGrpSpPr>
          <p:cNvPr id="865" name="Groupe"/>
          <p:cNvGrpSpPr/>
          <p:nvPr/>
        </p:nvGrpSpPr>
        <p:grpSpPr>
          <a:xfrm>
            <a:off x="195632" y="5160991"/>
            <a:ext cx="3124187" cy="364796"/>
            <a:chOff x="0" y="0"/>
            <a:chExt cx="3124185" cy="364795"/>
          </a:xfrm>
        </p:grpSpPr>
        <p:sp>
          <p:nvSpPr>
            <p:cNvPr id="863" name="…"/>
            <p:cNvSpPr/>
            <p:nvPr/>
          </p:nvSpPr>
          <p:spPr>
            <a:xfrm>
              <a:off x="0" y="0"/>
              <a:ext cx="2759904" cy="364796"/>
            </a:xfrm>
            <a:prstGeom prst="rect">
              <a:avLst/>
            </a:prstGeom>
            <a:solidFill>
              <a:schemeClr val="accent6">
                <a:lumOff val="9460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:r>
                <a:t>…</a:t>
              </a:r>
            </a:p>
          </p:txBody>
        </p:sp>
        <p:sp>
          <p:nvSpPr>
            <p:cNvPr id="864" name="Carré"/>
            <p:cNvSpPr/>
            <p:nvPr/>
          </p:nvSpPr>
          <p:spPr>
            <a:xfrm>
              <a:off x="2759390" y="0"/>
              <a:ext cx="364796" cy="364796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/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sSub>
                      <m:e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xmlns:a="http://schemas.openxmlformats.org/drawingml/2006/main"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m:oMathPara>
              </a14:m>
            </a:p>
          </p:txBody>
        </p:sp>
      </p:grpSp>
      <p:sp>
        <p:nvSpPr>
          <p:cNvPr id="866" name="Adder"/>
          <p:cNvSpPr/>
          <p:nvPr/>
        </p:nvSpPr>
        <p:spPr>
          <a:xfrm>
            <a:off x="5151272" y="3019754"/>
            <a:ext cx="1270001" cy="12700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/>
          </a:lstStyle>
          <a:p>
            <a:pPr/>
            <a:r>
              <a:t>Adder</a:t>
            </a:r>
          </a:p>
        </p:txBody>
      </p:sp>
      <p:sp>
        <p:nvSpPr>
          <p:cNvPr id="872" name="Ligne de connexion"/>
          <p:cNvSpPr/>
          <p:nvPr/>
        </p:nvSpPr>
        <p:spPr>
          <a:xfrm>
            <a:off x="3332479" y="1965960"/>
            <a:ext cx="1805941" cy="16878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5220" y="0"/>
                </a:lnTo>
                <a:lnTo>
                  <a:pt x="1522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/>
          <a:lstStyle/>
          <a:p>
            <a:pPr/>
          </a:p>
        </p:txBody>
      </p:sp>
      <p:sp>
        <p:nvSpPr>
          <p:cNvPr id="873" name="Ligne de connexion"/>
          <p:cNvSpPr/>
          <p:nvPr/>
        </p:nvSpPr>
        <p:spPr>
          <a:xfrm>
            <a:off x="3332479" y="3361690"/>
            <a:ext cx="1805941" cy="29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051" y="0"/>
                </a:lnTo>
                <a:lnTo>
                  <a:pt x="8051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/>
          <a:lstStyle/>
          <a:p>
            <a:pPr/>
          </a:p>
        </p:txBody>
      </p:sp>
      <p:sp>
        <p:nvSpPr>
          <p:cNvPr id="874" name="Ligne de connexion"/>
          <p:cNvSpPr/>
          <p:nvPr/>
        </p:nvSpPr>
        <p:spPr>
          <a:xfrm>
            <a:off x="3332479" y="3653790"/>
            <a:ext cx="1805941" cy="1689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5220" y="21600"/>
                </a:lnTo>
                <a:lnTo>
                  <a:pt x="1522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/>
          <a:lstStyle/>
          <a:p>
            <a:pPr/>
          </a:p>
        </p:txBody>
      </p:sp>
      <p:sp>
        <p:nvSpPr>
          <p:cNvPr id="875" name="Ligne de connexion"/>
          <p:cNvSpPr/>
          <p:nvPr/>
        </p:nvSpPr>
        <p:spPr>
          <a:xfrm>
            <a:off x="3332479" y="2867660"/>
            <a:ext cx="1805941" cy="786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051" y="0"/>
                </a:lnTo>
                <a:lnTo>
                  <a:pt x="8051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871" name="Ligne"/>
          <p:cNvSpPr/>
          <p:nvPr/>
        </p:nvSpPr>
        <p:spPr>
          <a:xfrm>
            <a:off x="6441877" y="3649121"/>
            <a:ext cx="604667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216;p7" descr="Google Shape;216;p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40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878" name="Google Shape;217;p7"/>
          <p:cNvSpPr txBox="1"/>
          <p:nvPr/>
        </p:nvSpPr>
        <p:spPr>
          <a:xfrm>
            <a:off x="2026805" y="3003658"/>
            <a:ext cx="8137430" cy="85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90000"/>
              </a:lnSpc>
              <a:defRPr b="1" sz="6000">
                <a:solidFill>
                  <a:srgbClr val="12448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Results &amp; Discussion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Motiv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Motivation</a:t>
            </a:r>
          </a:p>
        </p:txBody>
      </p:sp>
      <p:sp>
        <p:nvSpPr>
          <p:cNvPr id="881" name="Comparing SPEC CPU 2006 &amp; 2017 to other domains workload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Comparing SPEC CPU 2006 &amp; 2017 to other domains workloads</a:t>
            </a:r>
          </a:p>
          <a:p>
            <a:pPr lvl="1">
              <a:buChar char="●"/>
            </a:pPr>
            <a:r>
              <a:t>LLC MPKI with baseline LRU policy</a:t>
            </a:r>
          </a:p>
          <a:p>
            <a:pPr lvl="1">
              <a:buChar char="●"/>
            </a:pPr>
            <a:r>
              <a:t>Speed-up over LRU for state-of-the-art replacement policies</a:t>
            </a:r>
          </a:p>
          <a:p>
            <a:pPr/>
            <a:r>
              <a:t>Compared to the newly introduced benchmark, SPEC workloads do not stress the LLC in terms of misses</a:t>
            </a:r>
          </a:p>
          <a:p>
            <a:pPr/>
            <a:r>
              <a:t>SPEC workloads show speed-up incremental improvement with the introduction of new replacement techniques</a:t>
            </a:r>
          </a:p>
          <a:p>
            <a:pPr lvl="1">
              <a:buChar char="●"/>
            </a:pPr>
            <a:r>
              <a:t>Such techniques do not benefit the newly introduced benchmark suites</a:t>
            </a:r>
          </a:p>
        </p:txBody>
      </p:sp>
      <p:grpSp>
        <p:nvGrpSpPr>
          <p:cNvPr id="884" name="Groupe"/>
          <p:cNvGrpSpPr/>
          <p:nvPr/>
        </p:nvGrpSpPr>
        <p:grpSpPr>
          <a:xfrm>
            <a:off x="167407" y="1448179"/>
            <a:ext cx="5431201" cy="4290092"/>
            <a:chOff x="0" y="0"/>
            <a:chExt cx="5431200" cy="4290091"/>
          </a:xfrm>
        </p:grpSpPr>
        <p:pic>
          <p:nvPicPr>
            <p:cNvPr id="882" name="speedups_split_suites.pdf" descr="speedups_split_suites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2191588"/>
              <a:ext cx="5431201" cy="20985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3" name="avg_mpki_split_suites.pdf" descr="avg_mpki_split_suites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5431201" cy="20985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Misses &amp; Performance (1/2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Misses &amp; Performance (1/2)</a:t>
            </a:r>
          </a:p>
        </p:txBody>
      </p:sp>
      <p:sp>
        <p:nvSpPr>
          <p:cNvPr id="887" name="N.B.: Showing the 50 most intensive workloads among the available one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rPr i="1"/>
              <a:t>N.B.</a:t>
            </a:r>
            <a:r>
              <a:t>: Showing the 50 most intensive workloads among the available ones</a:t>
            </a:r>
          </a:p>
          <a:p>
            <a:pPr/>
            <a:r>
              <a:t>Average LLC MPKI is very high due the new workloads (XSBench, Qualcomm, GAP)</a:t>
            </a:r>
          </a:p>
          <a:p>
            <a:pPr/>
            <a:r>
              <a:t>The 50 most intensive workloads being dominated by a mix of XSBench, Qualcomm and GAP shows the clear necessity to introduce them in further evaluation of replacement policies</a:t>
            </a:r>
          </a:p>
        </p:txBody>
      </p:sp>
      <p:grpSp>
        <p:nvGrpSpPr>
          <p:cNvPr id="890" name="Groupe"/>
          <p:cNvGrpSpPr/>
          <p:nvPr/>
        </p:nvGrpSpPr>
        <p:grpSpPr>
          <a:xfrm>
            <a:off x="261148" y="1910866"/>
            <a:ext cx="5431201" cy="3332076"/>
            <a:chOff x="0" y="0"/>
            <a:chExt cx="5431199" cy="3332074"/>
          </a:xfrm>
        </p:grpSpPr>
        <p:pic>
          <p:nvPicPr>
            <p:cNvPr id="888" name="intensives_mpki.pdf" descr="intensives_mpki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5431200" cy="15281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9" name="intensives_speedup.pdf" descr="intensives_speedup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613838"/>
              <a:ext cx="5431200" cy="1718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Misses &amp; Performance (2/2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Misses &amp; Performance (2/2)</a:t>
            </a:r>
          </a:p>
        </p:txBody>
      </p:sp>
      <p:sp>
        <p:nvSpPr>
          <p:cNvPr id="893" name="Simulating state-of-the-art replacement policies (Hawkeye, Glider, Multiperspective)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452627" indent="-226313" defTabSz="905255">
              <a:buSzPts val="1700"/>
              <a:defRPr sz="1782"/>
            </a:pPr>
            <a:r>
              <a:t>Simulating state-of-the-art replacement policies (Hawkeye, Glider, Multiperspective)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:r>
              <a:t>Adding two custom designs derived from </a:t>
            </a:r>
            <a:r>
              <a:rPr i="1"/>
              <a:t>Multiperspetive</a:t>
            </a:r>
            <a:endParaRPr i="1"/>
          </a:p>
          <a:p>
            <a:pPr marL="452627" indent="-226313" defTabSz="905255">
              <a:buSzPts val="1700"/>
              <a:defRPr sz="1782"/>
            </a:pPr>
            <a:r>
              <a:rPr i="1"/>
              <a:t>Glider &amp; Multiperspective</a:t>
            </a:r>
            <a:r>
              <a:t>, techniques based on AI, are failing at generalizing to not explored yet workloads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:r>
              <a:t>Hence the need to include these workloads in further work</a:t>
            </a:r>
          </a:p>
          <a:p>
            <a:pPr marL="452627" indent="-226313" defTabSz="905255">
              <a:buSzPts val="1700"/>
              <a:defRPr i="1" sz="1782"/>
            </a:pPr>
            <a:r>
              <a:t>Multiperspective</a:t>
            </a:r>
            <a:r>
              <a:rPr i="0"/>
              <a:t> derived techniques generalize better by dynamically adapting the correlating features and deliver better performance</a:t>
            </a:r>
            <a:endParaRPr i="0"/>
          </a:p>
          <a:p>
            <a:pPr lvl="1" marL="905255" indent="-226313" defTabSz="905255">
              <a:buSzPts val="1700"/>
              <a:buChar char="●"/>
              <a:defRPr i="1" sz="1782"/>
            </a:pPr>
            <a:r>
              <a:rPr i="0"/>
              <a:t>8.0 % for DS-MPPPB</a:t>
            </a:r>
            <a:endParaRPr i="0"/>
          </a:p>
          <a:p>
            <a:pPr lvl="1" marL="905255" indent="-226313" defTabSz="905255">
              <a:buSzPts val="1700"/>
              <a:buChar char="●"/>
              <a:defRPr i="1" sz="1782"/>
            </a:pPr>
            <a:r>
              <a:rPr i="0"/>
              <a:t>8.3 % for MS-MPPPB</a:t>
            </a:r>
          </a:p>
        </p:txBody>
      </p:sp>
      <p:grpSp>
        <p:nvGrpSpPr>
          <p:cNvPr id="896" name="Groupe"/>
          <p:cNvGrpSpPr/>
          <p:nvPr/>
        </p:nvGrpSpPr>
        <p:grpSpPr>
          <a:xfrm>
            <a:off x="261148" y="1910866"/>
            <a:ext cx="5431201" cy="3332076"/>
            <a:chOff x="0" y="0"/>
            <a:chExt cx="5431199" cy="3332074"/>
          </a:xfrm>
        </p:grpSpPr>
        <p:pic>
          <p:nvPicPr>
            <p:cNvPr id="894" name="intensives_mpki.pdf" descr="intensives_mpki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5431200" cy="15281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5" name="intensives_speedup.pdf" descr="intensives_speedup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613838"/>
              <a:ext cx="5431200" cy="1718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Reuse-distance (1/2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Reuse-distance (1/2)</a:t>
            </a:r>
          </a:p>
        </p:txBody>
      </p:sp>
      <p:sp>
        <p:nvSpPr>
          <p:cNvPr id="899" name="Reuse-distance is the number of accesses separating two consecutive usages of a block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Reuse-distance is the number of accesses separating two consecutive usages of a block</a:t>
            </a:r>
          </a:p>
          <a:p>
            <a:pPr lvl="1">
              <a:buChar char="●"/>
            </a:pPr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≥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16</m:t>
                </m:r>
              </m:oMath>
            </a14:m>
            <a:r>
              <a:t> means that block was dead</a:t>
            </a:r>
          </a:p>
          <a:p>
            <a:pPr lvl="1">
              <a:buChar char="●"/>
            </a:pPr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&lt;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16</m:t>
                </m:r>
              </m:oMath>
            </a14:m>
            <a:r>
              <a:t> means that the block was useful</a:t>
            </a:r>
          </a:p>
          <a:p>
            <a:pPr/>
            <a:r>
              <a:t>SPEC &amp; Qualcomm are mostly cache-friendly</a:t>
            </a:r>
          </a:p>
          <a:p>
            <a:pPr lvl="1">
              <a:buChar char="●"/>
            </a:pPr>
            <a:r>
              <a:t>Distributions’ properties show that some Qualcomms show a very cache-averse behavior</a:t>
            </a:r>
          </a:p>
          <a:p>
            <a:pPr/>
            <a:r>
              <a:t>XSBench &amp; GAP workloads are more biased towards a cache-averse behavior</a:t>
            </a:r>
          </a:p>
          <a:p>
            <a:pPr lvl="1">
              <a:buChar char="●"/>
            </a:pPr>
            <a:r>
              <a:t>Median reuse-distance is rather high</a:t>
            </a:r>
          </a:p>
        </p:txBody>
      </p:sp>
      <p:pic>
        <p:nvPicPr>
          <p:cNvPr id="900" name="reuse_distance_density_suites_split.pdf" descr="reuse_distance_density_suites_split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4559" y="1604525"/>
            <a:ext cx="5431201" cy="2098503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901" name="Tableau"/>
          <p:cNvGraphicFramePr/>
          <p:nvPr/>
        </p:nvGraphicFramePr>
        <p:xfrm>
          <a:off x="364559" y="3889152"/>
          <a:ext cx="5443901" cy="2111204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{CF821DB8-F4EB-4A41-A1BA-3FCAFE7338EE}</a:tableStyleId>
              </a:tblPr>
              <a:tblGrid>
                <a:gridCol w="1086240"/>
                <a:gridCol w="1086240"/>
                <a:gridCol w="1086240"/>
                <a:gridCol w="1086240"/>
                <a:gridCol w="1086240"/>
              </a:tblGrid>
              <a:tr h="3497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Parameters</a:t>
                      </a:r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SPEC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XSBench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Qualcomm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 marL="0" marR="0" marT="0" marB="0" anchor="ctr" anchorCtr="0" horzOverflow="overflow">
                    <a:lnR w="25400">
                      <a:solidFill>
                        <a:srgbClr val="000000"/>
                      </a:solidFill>
                    </a:lnR>
                  </a:tcPr>
                </a:tc>
              </a:tr>
              <a:tr h="3497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Maximum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21 076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12 677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59 934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34 836</a:t>
                      </a:r>
                    </a:p>
                  </a:txBody>
                  <a:tcPr marL="0" marR="0" marT="0" marB="0" anchor="ctr" anchorCtr="0" horzOverflow="overflow"/>
                </a:tc>
              </a:tr>
              <a:tr h="3497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61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116</a:t>
                      </a:r>
                    </a:p>
                  </a:txBody>
                  <a:tcPr marL="0" marR="0" marT="0" marB="0" anchor="ctr" anchorCtr="0" horzOverflow="overflow"/>
                </a:tc>
              </a:tr>
              <a:tr h="3497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126.23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343.23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93.76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907.89</a:t>
                      </a:r>
                    </a:p>
                  </a:txBody>
                  <a:tcPr marL="0" marR="0" marT="0" marB="0" anchor="ctr" anchorCtr="0" horzOverflow="overflow"/>
                </a:tc>
              </a:tr>
              <a:tr h="3497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Std.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572.94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875.68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541.80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2106.41</a:t>
                      </a:r>
                    </a:p>
                  </a:txBody>
                  <a:tcPr marL="0" marR="0" marT="0" marB="0" anchor="ctr" anchorCtr="0" horzOverflow="overflow"/>
                </a:tc>
              </a:tr>
              <a:tr h="3497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Avg. dead block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48.03%</a:t>
                      </a:r>
                    </a:p>
                  </a:txBody>
                  <a:tcPr marL="0" marR="0" marT="0" marB="0" anchor="ctr" anchorCtr="0" horzOverflow="overflow">
                    <a:lnB w="254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37.32%</a:t>
                      </a:r>
                    </a:p>
                  </a:txBody>
                  <a:tcPr marL="0" marR="0" marT="0" marB="0" anchor="ctr" anchorCtr="0" horzOverflow="overflow">
                    <a:lnB w="254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28.01%</a:t>
                      </a:r>
                    </a:p>
                  </a:txBody>
                  <a:tcPr marL="0" marR="0" marT="0" marB="0" anchor="ctr" anchorCtr="0" horzOverflow="overflow">
                    <a:lnB w="254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55.84%</a:t>
                      </a:r>
                    </a:p>
                  </a:txBody>
                  <a:tcPr marL="0" marR="0" marT="0" marB="0" anchor="ctr" anchorCtr="0" horzOverflow="overflow">
                    <a:lnB w="254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Reuse-distance (2/2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Reuse-distance (2/2)</a:t>
            </a:r>
          </a:p>
        </p:txBody>
      </p:sp>
      <p:sp>
        <p:nvSpPr>
          <p:cNvPr id="904" name="The reuse-distance figure clearly shows a high correlation between the input-graph &amp; the workloads’ behavior…"/>
          <p:cNvSpPr txBox="1"/>
          <p:nvPr>
            <p:ph type="body" sz="half" idx="1"/>
          </p:nvPr>
        </p:nvSpPr>
        <p:spPr>
          <a:xfrm>
            <a:off x="6150678" y="1258422"/>
            <a:ext cx="5431200" cy="3977401"/>
          </a:xfrm>
          <a:prstGeom prst="rect">
            <a:avLst/>
          </a:prstGeom>
        </p:spPr>
        <p:txBody>
          <a:bodyPr anchor="t"/>
          <a:lstStyle/>
          <a:p>
            <a:pPr marL="452627" indent="-226313" defTabSz="905255">
              <a:buSzPts val="1700"/>
              <a:defRPr sz="1782"/>
            </a:pPr>
            <a:r>
              <a:t>The reuse-distance figure clearly shows a high correlation between the input-graph &amp; the workloads’ behavior</a:t>
            </a:r>
          </a:p>
          <a:p>
            <a:pPr marL="452627" indent="-226313" defTabSz="905255">
              <a:buSzPts val="1700"/>
              <a:defRPr sz="1782"/>
            </a:pPr>
            <a:r>
              <a:rPr>
                <a:latin typeface="Source Code Pro for Powerline"/>
                <a:ea typeface="Source Code Pro for Powerline"/>
                <a:cs typeface="Source Code Pro for Powerline"/>
                <a:sym typeface="Source Code Pro for Powerline"/>
              </a:rPr>
              <a:t>kron &amp; urand</a:t>
            </a:r>
            <a:r>
              <a:t> produce the most cache-averse workloads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:r>
              <a:t>High LLC MPKI (c.f. slide 29)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:r>
              <a:t>Relatively poor improvement over LRU of the state-of-the-art replacement policies</a:t>
            </a:r>
          </a:p>
          <a:p>
            <a:pPr marL="452627" indent="-226313" defTabSz="905255">
              <a:buSzPts val="1700"/>
              <a:defRPr sz="1782"/>
            </a:pPr>
            <a:r>
              <a:t>The behavior of this graphs can be correlated to theirs degree distributions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:r>
              <a:t>Avg. degree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:r>
              <a:t>Shape of the distribution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  <a:r>
              <a:t>, # of vertices &amp; edges</a:t>
            </a:r>
          </a:p>
          <a:p>
            <a:pPr lvl="1" marL="905255" indent="-226313" defTabSz="905255">
              <a:buSzPts val="1700"/>
              <a:buChar char="●"/>
              <a:defRPr sz="1782"/>
            </a:pPr>
            <a:r>
              <a:t>etc.</a:t>
            </a:r>
          </a:p>
        </p:txBody>
      </p:sp>
      <p:pic>
        <p:nvPicPr>
          <p:cNvPr id="905" name="reuse_distance_density_gapbs_split.pdf" descr="reuse_distance_density_gapbs_split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2566" y="1258422"/>
            <a:ext cx="5431201" cy="209850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6" name="out_urand.sg.png" descr="out_urand.s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2566" y="3645619"/>
            <a:ext cx="2798005" cy="2098504"/>
          </a:xfrm>
          <a:prstGeom prst="rect">
            <a:avLst/>
          </a:prstGeom>
          <a:ln w="12700">
            <a:miter lim="400000"/>
          </a:ln>
        </p:spPr>
      </p:pic>
      <p:pic>
        <p:nvPicPr>
          <p:cNvPr id="907" name="out_web.sg.png" descr="out_web.sg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216622" y="3645619"/>
            <a:ext cx="2798005" cy="20985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222;p8" descr="Google Shape;222;p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40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910" name="Google Shape;223;p8"/>
          <p:cNvSpPr txBox="1"/>
          <p:nvPr/>
        </p:nvSpPr>
        <p:spPr>
          <a:xfrm>
            <a:off x="2026805" y="3003658"/>
            <a:ext cx="8137430" cy="85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90000"/>
              </a:lnSpc>
              <a:defRPr b="1" sz="6000">
                <a:solidFill>
                  <a:srgbClr val="12448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Conclusion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Thank you for your attention!"/>
          <p:cNvSpPr txBox="1"/>
          <p:nvPr>
            <p:ph type="body" sz="half" idx="1"/>
          </p:nvPr>
        </p:nvSpPr>
        <p:spPr>
          <a:xfrm>
            <a:off x="4673518" y="1658414"/>
            <a:ext cx="6908403" cy="3923026"/>
          </a:xfrm>
          <a:prstGeom prst="rect">
            <a:avLst/>
          </a:prstGeom>
        </p:spPr>
        <p:txBody>
          <a:bodyPr/>
          <a:lstStyle>
            <a:lvl1pPr marL="0" indent="228600" algn="ctr">
              <a:defRPr b="1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Thank you for your attention!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